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3" name="Now Box"/>
          <p:cNvSpPr/>
          <p:nvPr/>
        </p:nvSpPr>
        <p:spPr>
          <a:xfrm>
            <a:off x="6604000" y="1968500"/>
            <a:ext cx="4381500" cy="762000"/>
          </a:xfrm>
          <a:prstGeom prst="roundRect">
            <a:avLst/>
          </a:prstGeom>
          <a:solidFill>
            <a:srgbClr val="EFE6D7"/>
          </a:solidFill>
          <a:ln w="18000">
            <a:solidFill>
              <a:srgbClr val="B88A44"/>
            </a:solidFill>
          </a:ln>
        </p:spPr>
      </p:sp>
      <p:sp>
        <p:nvSpPr>
          <p:cNvPr id="4" name="QR Box"/>
          <p:cNvSpPr/>
          <p:nvPr/>
        </p:nvSpPr>
        <p:spPr>
          <a:xfrm>
            <a:off x="6604000" y="2984500"/>
            <a:ext cx="4381500" cy="762000"/>
          </a:xfrm>
          <a:prstGeom prst="roundRect">
            <a:avLst/>
          </a:prstGeom>
          <a:solidFill>
            <a:srgbClr val="E8EFE8"/>
          </a:solidFill>
          <a:ln w="18000">
            <a:solidFill>
              <a:srgbClr val="45624D"/>
            </a:solidFill>
          </a:ln>
        </p:spPr>
      </p:sp>
      <p:sp>
        <p:nvSpPr>
          <p:cNvPr id="5" name="Archive Box"/>
          <p:cNvSpPr/>
          <p:nvPr/>
        </p:nvSpPr>
        <p:spPr>
          <a:xfrm>
            <a:off x="6604000" y="4000500"/>
            <a:ext cx="4381500" cy="762000"/>
          </a:xfrm>
          <a:prstGeom prst="roundRect">
            <a:avLst/>
          </a:prstGeom>
          <a:solidFill>
            <a:srgbClr val="E9EDF0"/>
          </a:solidFill>
          <a:ln w="18000">
            <a:solidFill>
              <a:srgbClr val="5D7182"/>
            </a:solidFill>
          </a:ln>
        </p:spPr>
      </p:sp>
      <p:sp>
        <p:nvSpPr>
          <p:cNvPr id="6" name="Slide Title"/>
          <p:cNvSpPr txBox="1"/>
          <p:nvPr/>
        </p:nvSpPr>
        <p:spPr>
          <a:xfrm>
            <a:off x="584200" y="495300"/>
            <a:ext cx="9525000" cy="711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4400" b="1">
                <a:solidFill>
                  <a:srgbClr val="243126"/>
                </a:solidFill>
                <a:latin typeface="Yu Gothic"/>
                <a:ea typeface="Yu Gothic"/>
              </a:rPr>
              <a:t>現行正本マップ</a:t>
            </a:r>
          </a:p>
        </p:txBody>
      </p:sp>
      <p:sp>
        <p:nvSpPr>
          <p:cNvPr id="7" name="Slide Subtitle"/>
          <p:cNvSpPr txBox="1"/>
          <p:nvPr/>
        </p:nvSpPr>
        <p:spPr>
          <a:xfrm>
            <a:off x="596900" y="1168400"/>
            <a:ext cx="81280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非QRの現状を正本化し、QRは後続課題として切り分ける</a:t>
            </a:r>
          </a:p>
        </p:txBody>
      </p:sp>
      <p:sp>
        <p:nvSpPr>
          <p:cNvPr id="8" name="Accent Rule"/>
          <p:cNvSpPr/>
          <p:nvPr/>
        </p:nvSpPr>
        <p:spPr>
          <a:xfrm>
            <a:off x="609600" y="1689100"/>
            <a:ext cx="1460500" cy="50800"/>
          </a:xfrm>
          <a:prstGeom prst="roundRect">
            <a:avLst/>
          </a:prstGeom>
          <a:solidFill>
            <a:srgbClr val="B88A44"/>
          </a:solidFill>
          <a:ln>
            <a:noFill/>
          </a:ln>
        </p:spPr>
      </p:sp>
      <p:sp>
        <p:nvSpPr>
          <p:cNvPr id="9" name="Body"/>
          <p:cNvSpPr txBox="1"/>
          <p:nvPr/>
        </p:nvSpPr>
        <p:spPr>
          <a:xfrm>
            <a:off x="609600" y="2044700"/>
            <a:ext cx="4826000" cy="3937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現行のHTML/CSS/JS/DB連携状態を非QR部分の正本にする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QR導線は消さず、運用処理の残作業として維持する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過去資料は削除せず、参照専用として整理する</a:t>
            </a:r>
          </a:p>
        </p:txBody>
      </p:sp>
      <p:sp>
        <p:nvSpPr>
          <p:cNvPr id="10" name="Now Text"/>
          <p:cNvSpPr txBox="1"/>
          <p:nvPr/>
        </p:nvSpPr>
        <p:spPr>
          <a:xfrm>
            <a:off x="6858000" y="2120900"/>
            <a:ext cx="38735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600" b="1">
                <a:solidFill>
                  <a:srgbClr val="243126"/>
                </a:solidFill>
                <a:latin typeface="Yu Gothic"/>
                <a:ea typeface="Yu Gothic"/>
              </a:rPr>
              <a:t>非QR = 現状実装を正本</a:t>
            </a:r>
          </a:p>
        </p:txBody>
      </p:sp>
      <p:sp>
        <p:nvSpPr>
          <p:cNvPr id="11" name="QR Text"/>
          <p:cNvSpPr txBox="1"/>
          <p:nvPr/>
        </p:nvSpPr>
        <p:spPr>
          <a:xfrm>
            <a:off x="6858000" y="3136900"/>
            <a:ext cx="38735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600" b="1">
                <a:solidFill>
                  <a:srgbClr val="45624D"/>
                </a:solidFill>
                <a:latin typeface="Yu Gothic"/>
                <a:ea typeface="Yu Gothic"/>
              </a:rPr>
              <a:t>QR = 後続課題として維持</a:t>
            </a:r>
          </a:p>
        </p:txBody>
      </p:sp>
      <p:sp>
        <p:nvSpPr>
          <p:cNvPr id="12" name="Archive Text"/>
          <p:cNvSpPr txBox="1"/>
          <p:nvPr/>
        </p:nvSpPr>
        <p:spPr>
          <a:xfrm>
            <a:off x="6858000" y="4152900"/>
            <a:ext cx="38735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600" b="1">
                <a:solidFill>
                  <a:srgbClr val="5D7182"/>
                </a:solidFill>
                <a:latin typeface="Yu Gothic"/>
                <a:ea typeface="Yu Gothic"/>
              </a:rPr>
              <a:t>過去資料 = archiveへ退避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09600" y="6438900"/>
            <a:ext cx="8890000" cy="203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1100">
                <a:solidFill>
                  <a:srgbClr val="657064"/>
                </a:solidFill>
                <a:latin typeface="Yu Gothic"/>
                <a:ea typeface="Yu Gothic"/>
              </a:rPr>
              <a:t>fragrance_questionnaire / 2026-05-06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3" name="Docs"/>
          <p:cNvSpPr/>
          <p:nvPr/>
        </p:nvSpPr>
        <p:spPr>
          <a:xfrm>
            <a:off x="6223000" y="1905000"/>
            <a:ext cx="1714500" cy="952500"/>
          </a:xfrm>
          <a:prstGeom prst="roundRect">
            <a:avLst/>
          </a:prstGeom>
          <a:solidFill>
            <a:srgbClr val="E8EFE8"/>
          </a:solidFill>
          <a:ln w="18000">
            <a:solidFill>
              <a:srgbClr val="45624D"/>
            </a:solidFill>
          </a:ln>
        </p:spPr>
      </p:sp>
      <p:sp>
        <p:nvSpPr>
          <p:cNvPr id="4" name="Assets"/>
          <p:cNvSpPr/>
          <p:nvPr/>
        </p:nvSpPr>
        <p:spPr>
          <a:xfrm>
            <a:off x="8382000" y="1905000"/>
            <a:ext cx="1714500" cy="952500"/>
          </a:xfrm>
          <a:prstGeom prst="roundRect">
            <a:avLst/>
          </a:prstGeom>
          <a:solidFill>
            <a:srgbClr val="EFE6D7"/>
          </a:solidFill>
          <a:ln w="18000">
            <a:solidFill>
              <a:srgbClr val="B88A44"/>
            </a:solidFill>
          </a:ln>
        </p:spPr>
      </p:sp>
      <p:sp>
        <p:nvSpPr>
          <p:cNvPr id="5" name="Archive"/>
          <p:cNvSpPr/>
          <p:nvPr/>
        </p:nvSpPr>
        <p:spPr>
          <a:xfrm>
            <a:off x="6223000" y="3429000"/>
            <a:ext cx="1714500" cy="952500"/>
          </a:xfrm>
          <a:prstGeom prst="roundRect">
            <a:avLst/>
          </a:prstGeom>
          <a:solidFill>
            <a:srgbClr val="F2E8E4"/>
          </a:solidFill>
          <a:ln w="18000">
            <a:solidFill>
              <a:srgbClr val="A25B4B"/>
            </a:solidFill>
          </a:ln>
        </p:spPr>
      </p:sp>
      <p:sp>
        <p:nvSpPr>
          <p:cNvPr id="6" name="Archived"/>
          <p:cNvSpPr/>
          <p:nvPr/>
        </p:nvSpPr>
        <p:spPr>
          <a:xfrm>
            <a:off x="8382000" y="3429000"/>
            <a:ext cx="1714500" cy="952500"/>
          </a:xfrm>
          <a:prstGeom prst="roundRect">
            <a:avLst/>
          </a:prstGeom>
          <a:solidFill>
            <a:srgbClr val="E9EDF0"/>
          </a:solidFill>
          <a:ln w="18000">
            <a:solidFill>
              <a:srgbClr val="5D7182"/>
            </a:solidFill>
          </a:ln>
        </p:spPr>
      </p:sp>
      <p:sp>
        <p:nvSpPr>
          <p:cNvPr id="7" name="Slide Title"/>
          <p:cNvSpPr txBox="1"/>
          <p:nvPr/>
        </p:nvSpPr>
        <p:spPr>
          <a:xfrm>
            <a:off x="584200" y="495300"/>
            <a:ext cx="9525000" cy="711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4400" b="1">
                <a:solidFill>
                  <a:srgbClr val="243126"/>
                </a:solidFill>
                <a:latin typeface="Yu Gothic"/>
                <a:ea typeface="Yu Gothic"/>
              </a:rPr>
              <a:t>フォルダの役割</a:t>
            </a:r>
          </a:p>
        </p:txBody>
      </p:sp>
      <p:sp>
        <p:nvSpPr>
          <p:cNvPr id="8" name="Slide Subtitle"/>
          <p:cNvSpPr txBox="1"/>
          <p:nvPr/>
        </p:nvSpPr>
        <p:spPr>
          <a:xfrm>
            <a:off x="596900" y="1168400"/>
            <a:ext cx="81280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作業時に迷わないよう、現在資料・参照資料・過去実体を分離する</a:t>
            </a:r>
          </a:p>
        </p:txBody>
      </p:sp>
      <p:sp>
        <p:nvSpPr>
          <p:cNvPr id="9" name="Accent Rule"/>
          <p:cNvSpPr/>
          <p:nvPr/>
        </p:nvSpPr>
        <p:spPr>
          <a:xfrm>
            <a:off x="609600" y="1689100"/>
            <a:ext cx="1460500" cy="50800"/>
          </a:xfrm>
          <a:prstGeom prst="roundRect">
            <a:avLst/>
          </a:prstGeom>
          <a:solidFill>
            <a:srgbClr val="45624D"/>
          </a:solidFill>
          <a:ln>
            <a:noFill/>
          </a:ln>
        </p:spPr>
      </p:sp>
      <p:sp>
        <p:nvSpPr>
          <p:cNvPr id="10" name="Body"/>
          <p:cNvSpPr txBox="1"/>
          <p:nvPr/>
        </p:nvSpPr>
        <p:spPr>
          <a:xfrm>
            <a:off x="609600" y="2044700"/>
            <a:ext cx="4826000" cy="3937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`docs/` は現在仕様と参照資料の入口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`docs/archive/` は過去資料と旧前提の保存場所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`archived/` は旧コード・旧画面実体の隔離場所</a:t>
            </a:r>
          </a:p>
        </p:txBody>
      </p:sp>
      <p:sp>
        <p:nvSpPr>
          <p:cNvPr id="11" name="Docs Label"/>
          <p:cNvSpPr txBox="1"/>
          <p:nvPr/>
        </p:nvSpPr>
        <p:spPr>
          <a:xfrm>
            <a:off x="6464300" y="2159000"/>
            <a:ext cx="1397000" cy="279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800" b="1">
                <a:solidFill>
                  <a:srgbClr val="45624D"/>
                </a:solidFill>
                <a:latin typeface="Yu Gothic"/>
                <a:ea typeface="Yu Gothic"/>
              </a:rPr>
              <a:t>docs/</a:t>
            </a:r>
          </a:p>
        </p:txBody>
      </p:sp>
      <p:sp>
        <p:nvSpPr>
          <p:cNvPr id="12" name="Assets Label"/>
          <p:cNvSpPr txBox="1"/>
          <p:nvPr/>
        </p:nvSpPr>
        <p:spPr>
          <a:xfrm>
            <a:off x="8623300" y="2159000"/>
            <a:ext cx="1397000" cy="279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800" b="1">
                <a:solidFill>
                  <a:srgbClr val="B88A44"/>
                </a:solidFill>
                <a:latin typeface="Yu Gothic"/>
                <a:ea typeface="Yu Gothic"/>
              </a:rPr>
              <a:t>assets/</a:t>
            </a:r>
          </a:p>
        </p:txBody>
      </p:sp>
      <p:sp>
        <p:nvSpPr>
          <p:cNvPr id="13" name="Archive Label"/>
          <p:cNvSpPr txBox="1"/>
          <p:nvPr/>
        </p:nvSpPr>
        <p:spPr>
          <a:xfrm>
            <a:off x="6464300" y="3683000"/>
            <a:ext cx="1397000" cy="279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800" b="1">
                <a:solidFill>
                  <a:srgbClr val="A25B4B"/>
                </a:solidFill>
                <a:latin typeface="Yu Gothic"/>
                <a:ea typeface="Yu Gothic"/>
              </a:rPr>
              <a:t>archive/</a:t>
            </a:r>
          </a:p>
        </p:txBody>
      </p:sp>
      <p:sp>
        <p:nvSpPr>
          <p:cNvPr id="14" name="Archived Label"/>
          <p:cNvSpPr txBox="1"/>
          <p:nvPr/>
        </p:nvSpPr>
        <p:spPr>
          <a:xfrm>
            <a:off x="8623300" y="3683000"/>
            <a:ext cx="1397000" cy="279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800" b="1">
                <a:solidFill>
                  <a:srgbClr val="5D7182"/>
                </a:solidFill>
                <a:latin typeface="Yu Gothic"/>
                <a:ea typeface="Yu Gothic"/>
              </a:rPr>
              <a:t>archived/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09600" y="6438900"/>
            <a:ext cx="8890000" cy="203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1100">
                <a:solidFill>
                  <a:srgbClr val="657064"/>
                </a:solidFill>
                <a:latin typeface="Yu Gothic"/>
                <a:ea typeface="Yu Gothic"/>
              </a:rPr>
              <a:t>fragrance_questionnaire / 2026-05-06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3" name="Reading Order"/>
          <p:cNvSpPr/>
          <p:nvPr/>
        </p:nvSpPr>
        <p:spPr>
          <a:xfrm>
            <a:off x="6223000" y="1981200"/>
            <a:ext cx="4191000" cy="26035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5D7182"/>
            </a:solidFill>
          </a:ln>
        </p:spPr>
      </p:sp>
      <p:sp>
        <p:nvSpPr>
          <p:cNvPr id="4" name="Slide Title"/>
          <p:cNvSpPr txBox="1"/>
          <p:nvPr/>
        </p:nvSpPr>
        <p:spPr>
          <a:xfrm>
            <a:off x="584200" y="495300"/>
            <a:ext cx="9525000" cy="711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4400" b="1">
                <a:solidFill>
                  <a:srgbClr val="243126"/>
                </a:solidFill>
                <a:latin typeface="Yu Gothic"/>
                <a:ea typeface="Yu Gothic"/>
              </a:rPr>
              <a:t>現在の読み順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596900" y="1168400"/>
            <a:ext cx="81280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通常作業では正本資料を先に読み、過去資料は必要時だけ照合する</a:t>
            </a:r>
          </a:p>
        </p:txBody>
      </p:sp>
      <p:sp>
        <p:nvSpPr>
          <p:cNvPr id="6" name="Accent Rule"/>
          <p:cNvSpPr/>
          <p:nvPr/>
        </p:nvSpPr>
        <p:spPr>
          <a:xfrm>
            <a:off x="609600" y="1689100"/>
            <a:ext cx="1460500" cy="50800"/>
          </a:xfrm>
          <a:prstGeom prst="roundRect">
            <a:avLst/>
          </a:prstGeom>
          <a:solidFill>
            <a:srgbClr val="5D7182"/>
          </a:solidFill>
          <a:ln>
            <a:noFill/>
          </a:ln>
        </p:spPr>
      </p:sp>
      <p:sp>
        <p:nvSpPr>
          <p:cNvPr id="7" name="Body"/>
          <p:cNvSpPr txBox="1"/>
          <p:nvPr/>
        </p:nvSpPr>
        <p:spPr>
          <a:xfrm>
            <a:off x="609600" y="2044700"/>
            <a:ext cx="4826000" cy="3937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00〜06 の設計資料を優先する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SPEC / SCORING / MATERIALS は個別仕様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IMPLEMENTATION_LOG は経緯。旧パスは当時の記録</a:t>
            </a:r>
          </a:p>
        </p:txBody>
      </p:sp>
      <p:sp>
        <p:nvSpPr>
          <p:cNvPr id="8" name="Read 1"/>
          <p:cNvSpPr txBox="1"/>
          <p:nvPr/>
        </p:nvSpPr>
        <p:spPr>
          <a:xfrm>
            <a:off x="6540500" y="2222500"/>
            <a:ext cx="35560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400" b="1">
                <a:solidFill>
                  <a:srgbClr val="243126"/>
                </a:solidFill>
                <a:latin typeface="Yu Gothic"/>
                <a:ea typeface="Yu Gothic"/>
              </a:rPr>
              <a:t>1. AGENTS.md</a:t>
            </a:r>
          </a:p>
        </p:txBody>
      </p:sp>
      <p:sp>
        <p:nvSpPr>
          <p:cNvPr id="9" name="Read 2"/>
          <p:cNvSpPr txBox="1"/>
          <p:nvPr/>
        </p:nvSpPr>
        <p:spPr>
          <a:xfrm>
            <a:off x="6540500" y="2679700"/>
            <a:ext cx="35560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400" b="1">
                <a:solidFill>
                  <a:srgbClr val="243126"/>
                </a:solidFill>
                <a:latin typeface="Yu Gothic"/>
                <a:ea typeface="Yu Gothic"/>
              </a:rPr>
              <a:t>2. docs/00〜06</a:t>
            </a:r>
          </a:p>
        </p:txBody>
      </p:sp>
      <p:sp>
        <p:nvSpPr>
          <p:cNvPr id="10" name="Read 3"/>
          <p:cNvSpPr txBox="1"/>
          <p:nvPr/>
        </p:nvSpPr>
        <p:spPr>
          <a:xfrm>
            <a:off x="6540500" y="3136900"/>
            <a:ext cx="35560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400" b="1">
                <a:solidFill>
                  <a:srgbClr val="243126"/>
                </a:solidFill>
                <a:latin typeface="Yu Gothic"/>
                <a:ea typeface="Yu Gothic"/>
              </a:rPr>
              <a:t>3. SPEC / SCORING / MATERIALS</a:t>
            </a:r>
          </a:p>
        </p:txBody>
      </p:sp>
      <p:sp>
        <p:nvSpPr>
          <p:cNvPr id="11" name="Read 4"/>
          <p:cNvSpPr txBox="1"/>
          <p:nvPr/>
        </p:nvSpPr>
        <p:spPr>
          <a:xfrm>
            <a:off x="6540500" y="3594100"/>
            <a:ext cx="35560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400">
                <a:solidFill>
                  <a:srgbClr val="657064"/>
                </a:solidFill>
                <a:latin typeface="Yu Gothic"/>
                <a:ea typeface="Yu Gothic"/>
              </a:rPr>
              <a:t>4. IMPLEMENTATION_LOG</a:t>
            </a:r>
          </a:p>
        </p:txBody>
      </p:sp>
      <p:sp>
        <p:nvSpPr>
          <p:cNvPr id="12" name="Read 5"/>
          <p:cNvSpPr txBox="1"/>
          <p:nvPr/>
        </p:nvSpPr>
        <p:spPr>
          <a:xfrm>
            <a:off x="6540500" y="4051300"/>
            <a:ext cx="3556000" cy="33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400">
                <a:solidFill>
                  <a:srgbClr val="657064"/>
                </a:solidFill>
                <a:latin typeface="Yu Gothic"/>
                <a:ea typeface="Yu Gothic"/>
              </a:rPr>
              <a:t>5. docs/archive は照合用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09600" y="6438900"/>
            <a:ext cx="8890000" cy="203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1100">
                <a:solidFill>
                  <a:srgbClr val="657064"/>
                </a:solidFill>
                <a:latin typeface="Yu Gothic"/>
                <a:ea typeface="Yu Gothic"/>
              </a:rPr>
              <a:t>fragrance_questionnaire / 2026-05-06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3" name="Implemented"/>
          <p:cNvSpPr/>
          <p:nvPr/>
        </p:nvSpPr>
        <p:spPr>
          <a:xfrm>
            <a:off x="6413500" y="2095500"/>
            <a:ext cx="3937000" cy="603250"/>
          </a:xfrm>
          <a:prstGeom prst="roundRect">
            <a:avLst/>
          </a:prstGeom>
          <a:solidFill>
            <a:srgbClr val="E8EFE8"/>
          </a:solidFill>
          <a:ln w="18000">
            <a:solidFill>
              <a:srgbClr val="45624D"/>
            </a:solidFill>
          </a:ln>
        </p:spPr>
      </p:sp>
      <p:sp>
        <p:nvSpPr>
          <p:cNvPr id="4" name="Remaining"/>
          <p:cNvSpPr/>
          <p:nvPr/>
        </p:nvSpPr>
        <p:spPr>
          <a:xfrm>
            <a:off x="6413500" y="3016250"/>
            <a:ext cx="3937000" cy="603250"/>
          </a:xfrm>
          <a:prstGeom prst="roundRect">
            <a:avLst/>
          </a:prstGeom>
          <a:solidFill>
            <a:srgbClr val="F2E8E4"/>
          </a:solidFill>
          <a:ln w="18000">
            <a:solidFill>
              <a:srgbClr val="A25B4B"/>
            </a:solidFill>
          </a:ln>
        </p:spPr>
      </p:sp>
      <p:sp>
        <p:nvSpPr>
          <p:cNvPr id="5" name="Boundary"/>
          <p:cNvSpPr/>
          <p:nvPr/>
        </p:nvSpPr>
        <p:spPr>
          <a:xfrm>
            <a:off x="6413500" y="3937000"/>
            <a:ext cx="3937000" cy="603250"/>
          </a:xfrm>
          <a:prstGeom prst="roundRect">
            <a:avLst/>
          </a:prstGeom>
          <a:solidFill>
            <a:srgbClr val="EFE6D7"/>
          </a:solidFill>
          <a:ln w="18000">
            <a:solidFill>
              <a:srgbClr val="B88A44"/>
            </a:solidFill>
          </a:ln>
        </p:spPr>
      </p:sp>
      <p:sp>
        <p:nvSpPr>
          <p:cNvPr id="6" name="Slide Title"/>
          <p:cNvSpPr txBox="1"/>
          <p:nvPr/>
        </p:nvSpPr>
        <p:spPr>
          <a:xfrm>
            <a:off x="584200" y="495300"/>
            <a:ext cx="9525000" cy="711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4400" b="1">
                <a:solidFill>
                  <a:srgbClr val="243126"/>
                </a:solidFill>
                <a:latin typeface="Yu Gothic"/>
                <a:ea typeface="Yu Gothic"/>
              </a:rPr>
              <a:t>QR導線の扱い</a:t>
            </a:r>
          </a:p>
        </p:txBody>
      </p:sp>
      <p:sp>
        <p:nvSpPr>
          <p:cNvPr id="7" name="Slide Subtitle"/>
          <p:cNvSpPr txBox="1"/>
          <p:nvPr/>
        </p:nvSpPr>
        <p:spPr>
          <a:xfrm>
            <a:off x="596900" y="1168400"/>
            <a:ext cx="81280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現在仕様から消さず、会員導線とは混ぜずに後続作業へ残す</a:t>
            </a:r>
          </a:p>
        </p:txBody>
      </p:sp>
      <p:sp>
        <p:nvSpPr>
          <p:cNvPr id="8" name="Accent Rule"/>
          <p:cNvSpPr/>
          <p:nvPr/>
        </p:nvSpPr>
        <p:spPr>
          <a:xfrm>
            <a:off x="609600" y="1689100"/>
            <a:ext cx="1460500" cy="50800"/>
          </a:xfrm>
          <a:prstGeom prst="roundRect">
            <a:avLst/>
          </a:prstGeom>
          <a:solidFill>
            <a:srgbClr val="A25B4B"/>
          </a:solidFill>
          <a:ln>
            <a:noFill/>
          </a:ln>
        </p:spPr>
      </p:sp>
      <p:sp>
        <p:nvSpPr>
          <p:cNvPr id="9" name="Body"/>
          <p:cNvSpPr txBox="1"/>
          <p:nvPr/>
        </p:nvSpPr>
        <p:spPr>
          <a:xfrm>
            <a:off x="609600" y="2044700"/>
            <a:ext cx="4826000" cy="3937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QR商品ページ、設定、依頼保存の入口は現行実装に残す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作成可否判断、メール、発送、期限、集計は後続課題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QR第三者を会員DBに入れない方針は維持する</a:t>
            </a:r>
          </a:p>
        </p:txBody>
      </p:sp>
      <p:sp>
        <p:nvSpPr>
          <p:cNvPr id="10" name="Implemented Text"/>
          <p:cNvSpPr txBox="1"/>
          <p:nvPr/>
        </p:nvSpPr>
        <p:spPr>
          <a:xfrm>
            <a:off x="6667500" y="2235200"/>
            <a:ext cx="34290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500" b="1">
                <a:solidFill>
                  <a:srgbClr val="45624D"/>
                </a:solidFill>
                <a:latin typeface="Yu Gothic"/>
                <a:ea typeface="Yu Gothic"/>
              </a:rPr>
              <a:t>入口実装は維持</a:t>
            </a:r>
          </a:p>
        </p:txBody>
      </p:sp>
      <p:sp>
        <p:nvSpPr>
          <p:cNvPr id="11" name="Remaining Text"/>
          <p:cNvSpPr txBox="1"/>
          <p:nvPr/>
        </p:nvSpPr>
        <p:spPr>
          <a:xfrm>
            <a:off x="6667500" y="3155950"/>
            <a:ext cx="34290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500" b="1">
                <a:solidFill>
                  <a:srgbClr val="A25B4B"/>
                </a:solidFill>
                <a:latin typeface="Yu Gothic"/>
                <a:ea typeface="Yu Gothic"/>
              </a:rPr>
              <a:t>運用処理は後続</a:t>
            </a:r>
          </a:p>
        </p:txBody>
      </p:sp>
      <p:sp>
        <p:nvSpPr>
          <p:cNvPr id="12" name="Boundary Text"/>
          <p:cNvSpPr txBox="1"/>
          <p:nvPr/>
        </p:nvSpPr>
        <p:spPr>
          <a:xfrm>
            <a:off x="6667500" y="4076700"/>
            <a:ext cx="34290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500" b="1">
                <a:solidFill>
                  <a:srgbClr val="B88A44"/>
                </a:solidFill>
                <a:latin typeface="Yu Gothic"/>
                <a:ea typeface="Yu Gothic"/>
              </a:rPr>
              <a:t>会員導線とは分離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09600" y="6438900"/>
            <a:ext cx="8890000" cy="203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1100">
                <a:solidFill>
                  <a:srgbClr val="657064"/>
                </a:solidFill>
                <a:latin typeface="Yu Gothic"/>
                <a:ea typeface="Yu Gothic"/>
              </a:rPr>
              <a:t>fragrance_questionnaire / 2026-05-06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3" name="Moved Table"/>
          <p:cNvSpPr/>
          <p:nvPr/>
        </p:nvSpPr>
        <p:spPr>
          <a:xfrm>
            <a:off x="5969000" y="1930400"/>
            <a:ext cx="4889500" cy="30480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B88A44"/>
            </a:solidFill>
          </a:ln>
        </p:spPr>
      </p:sp>
      <p:sp>
        <p:nvSpPr>
          <p:cNvPr id="4" name="Slide Title"/>
          <p:cNvSpPr txBox="1"/>
          <p:nvPr/>
        </p:nvSpPr>
        <p:spPr>
          <a:xfrm>
            <a:off x="584200" y="495300"/>
            <a:ext cx="9525000" cy="711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4400" b="1">
                <a:solidFill>
                  <a:srgbClr val="243126"/>
                </a:solidFill>
                <a:latin typeface="Yu Gothic"/>
                <a:ea typeface="Yu Gothic"/>
              </a:rPr>
              <a:t>移動した資料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596900" y="1168400"/>
            <a:ext cx="81280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旧パスを役割別の場所へ移し、現在の参照先を明確にする</a:t>
            </a:r>
          </a:p>
        </p:txBody>
      </p:sp>
      <p:sp>
        <p:nvSpPr>
          <p:cNvPr id="6" name="Accent Rule"/>
          <p:cNvSpPr/>
          <p:nvPr/>
        </p:nvSpPr>
        <p:spPr>
          <a:xfrm>
            <a:off x="609600" y="1689100"/>
            <a:ext cx="1460500" cy="50800"/>
          </a:xfrm>
          <a:prstGeom prst="roundRect">
            <a:avLst/>
          </a:prstGeom>
          <a:solidFill>
            <a:srgbClr val="B88A44"/>
          </a:solidFill>
          <a:ln>
            <a:noFill/>
          </a:ln>
        </p:spPr>
      </p:sp>
      <p:sp>
        <p:nvSpPr>
          <p:cNvPr id="7" name="Body"/>
          <p:cNvSpPr txBox="1"/>
          <p:nvPr/>
        </p:nvSpPr>
        <p:spPr>
          <a:xfrm>
            <a:off x="609600" y="2044700"/>
            <a:ext cx="4826000" cy="3937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deep-research は archive/research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旧PPTX は archive/presentation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参照画像は assets/layout-reference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設定メモは archive/user-settings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prototype は archived/prototypes</a:t>
            </a:r>
          </a:p>
        </p:txBody>
      </p:sp>
      <p:sp>
        <p:nvSpPr>
          <p:cNvPr id="8" name="Moved Title"/>
          <p:cNvSpPr txBox="1"/>
          <p:nvPr/>
        </p:nvSpPr>
        <p:spPr>
          <a:xfrm>
            <a:off x="6286500" y="2190750"/>
            <a:ext cx="43815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800" b="1">
                <a:solidFill>
                  <a:srgbClr val="243126"/>
                </a:solidFill>
                <a:latin typeface="Yu Gothic"/>
                <a:ea typeface="Yu Gothic"/>
              </a:rPr>
              <a:t>旧資料は削除せず、参照専用へ</a:t>
            </a:r>
          </a:p>
        </p:txBody>
      </p:sp>
      <p:sp>
        <p:nvSpPr>
          <p:cNvPr id="9" name="Moved Body"/>
          <p:cNvSpPr txBox="1"/>
          <p:nvPr/>
        </p:nvSpPr>
        <p:spPr>
          <a:xfrm>
            <a:off x="6286500" y="2698750"/>
            <a:ext cx="4381500" cy="1397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root deep-research -&gt; docs/archive/research</a:t>
            </a:r>
            <a:br/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old PPTX -&gt; docs/archive/presentation</a:t>
            </a:r>
            <a:br/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layout images -&gt; docs/assets/layout-reference</a:t>
            </a:r>
            <a:br/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user SQL notes -&gt; docs/archive/user-settings</a:t>
            </a:r>
            <a:br/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prototype -&gt; archived/prototypes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09600" y="6438900"/>
            <a:ext cx="8890000" cy="203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1100">
                <a:solidFill>
                  <a:srgbClr val="657064"/>
                </a:solidFill>
                <a:latin typeface="Yu Gothic"/>
                <a:ea typeface="Yu Gothic"/>
              </a:rPr>
              <a:t>fragrance_questionnaire / 2026-05-06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3" name="Rule 1"/>
          <p:cNvSpPr/>
          <p:nvPr/>
        </p:nvSpPr>
        <p:spPr>
          <a:xfrm>
            <a:off x="6096000" y="2032000"/>
            <a:ext cx="4318000" cy="571500"/>
          </a:xfrm>
          <a:prstGeom prst="roundRect">
            <a:avLst/>
          </a:prstGeom>
          <a:solidFill>
            <a:srgbClr val="E8EFE8"/>
          </a:solidFill>
          <a:ln w="18000">
            <a:solidFill>
              <a:srgbClr val="45624D"/>
            </a:solidFill>
          </a:ln>
        </p:spPr>
      </p:sp>
      <p:sp>
        <p:nvSpPr>
          <p:cNvPr id="4" name="Rule 2"/>
          <p:cNvSpPr/>
          <p:nvPr/>
        </p:nvSpPr>
        <p:spPr>
          <a:xfrm>
            <a:off x="6096000" y="2825750"/>
            <a:ext cx="4318000" cy="571500"/>
          </a:xfrm>
          <a:prstGeom prst="roundRect">
            <a:avLst/>
          </a:prstGeom>
          <a:solidFill>
            <a:srgbClr val="EFE6D7"/>
          </a:solidFill>
          <a:ln w="18000">
            <a:solidFill>
              <a:srgbClr val="B88A44"/>
            </a:solidFill>
          </a:ln>
        </p:spPr>
      </p:sp>
      <p:sp>
        <p:nvSpPr>
          <p:cNvPr id="5" name="Rule 3"/>
          <p:cNvSpPr/>
          <p:nvPr/>
        </p:nvSpPr>
        <p:spPr>
          <a:xfrm>
            <a:off x="6096000" y="3619500"/>
            <a:ext cx="4318000" cy="571500"/>
          </a:xfrm>
          <a:prstGeom prst="roundRect">
            <a:avLst/>
          </a:prstGeom>
          <a:solidFill>
            <a:srgbClr val="E9EDF0"/>
          </a:solidFill>
          <a:ln w="18000">
            <a:solidFill>
              <a:srgbClr val="5D7182"/>
            </a:solidFill>
          </a:ln>
        </p:spPr>
      </p:sp>
      <p:sp>
        <p:nvSpPr>
          <p:cNvPr id="6" name="Slide Title"/>
          <p:cNvSpPr txBox="1"/>
          <p:nvPr/>
        </p:nvSpPr>
        <p:spPr>
          <a:xfrm>
            <a:off x="584200" y="495300"/>
            <a:ext cx="9525000" cy="711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4400" b="1">
                <a:solidFill>
                  <a:srgbClr val="243126"/>
                </a:solidFill>
                <a:latin typeface="Yu Gothic"/>
                <a:ea typeface="Yu Gothic"/>
              </a:rPr>
              <a:t>運用ルール</a:t>
            </a:r>
          </a:p>
        </p:txBody>
      </p:sp>
      <p:sp>
        <p:nvSpPr>
          <p:cNvPr id="7" name="Slide Subtitle"/>
          <p:cNvSpPr txBox="1"/>
          <p:nvPr/>
        </p:nvSpPr>
        <p:spPr>
          <a:xfrm>
            <a:off x="596900" y="1168400"/>
            <a:ext cx="81280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100">
                <a:solidFill>
                  <a:srgbClr val="657064"/>
                </a:solidFill>
                <a:latin typeface="Yu Gothic"/>
                <a:ea typeface="Yu Gothic"/>
              </a:rPr>
              <a:t>今後の実装で資料が再び混ざらないようにする</a:t>
            </a:r>
          </a:p>
        </p:txBody>
      </p:sp>
      <p:sp>
        <p:nvSpPr>
          <p:cNvPr id="8" name="Accent Rule"/>
          <p:cNvSpPr/>
          <p:nvPr/>
        </p:nvSpPr>
        <p:spPr>
          <a:xfrm>
            <a:off x="609600" y="1689100"/>
            <a:ext cx="1460500" cy="50800"/>
          </a:xfrm>
          <a:prstGeom prst="roundRect">
            <a:avLst/>
          </a:prstGeom>
          <a:solidFill>
            <a:srgbClr val="45624D"/>
          </a:solidFill>
          <a:ln>
            <a:noFill/>
          </a:ln>
        </p:spPr>
      </p:sp>
      <p:sp>
        <p:nvSpPr>
          <p:cNvPr id="9" name="Body"/>
          <p:cNvSpPr txBox="1"/>
          <p:nvPr/>
        </p:nvSpPr>
        <p:spPr>
          <a:xfrm>
            <a:off x="609600" y="2044700"/>
            <a:ext cx="4826000" cy="3937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現在仕様は `docs/` の正本に追記する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完了済み・旧前提は `docs/archive/` に退避する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旧HTMLや旧JSは `archived/` に隔離する</a:t>
            </a:r>
            <a:br/>
            <a:r>
              <a:rPr lang="ja-JP" sz="2200">
                <a:solidFill>
                  <a:srgbClr val="243126"/>
                </a:solidFill>
                <a:latin typeface="Yu Gothic"/>
                <a:ea typeface="Yu Gothic"/>
              </a:rPr>
              <a:t>• QR関連は後続課題として残し、非QR正本と混在させない</a:t>
            </a:r>
          </a:p>
        </p:txBody>
      </p:sp>
      <p:sp>
        <p:nvSpPr>
          <p:cNvPr id="10" name="Rule Text 1"/>
          <p:cNvSpPr txBox="1"/>
          <p:nvPr/>
        </p:nvSpPr>
        <p:spPr>
          <a:xfrm>
            <a:off x="6350000" y="2184400"/>
            <a:ext cx="3810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300" b="1">
                <a:solidFill>
                  <a:srgbClr val="45624D"/>
                </a:solidFill>
                <a:latin typeface="Yu Gothic"/>
                <a:ea typeface="Yu Gothic"/>
              </a:rPr>
              <a:t>正本は短く、現在判断を残す</a:t>
            </a:r>
          </a:p>
        </p:txBody>
      </p:sp>
      <p:sp>
        <p:nvSpPr>
          <p:cNvPr id="11" name="Rule Text 2"/>
          <p:cNvSpPr txBox="1"/>
          <p:nvPr/>
        </p:nvSpPr>
        <p:spPr>
          <a:xfrm>
            <a:off x="6350000" y="2978150"/>
            <a:ext cx="3810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300" b="1">
                <a:solidFill>
                  <a:srgbClr val="B88A44"/>
                </a:solidFill>
                <a:latin typeface="Yu Gothic"/>
                <a:ea typeface="Yu Gothic"/>
              </a:rPr>
              <a:t>過去資料は履歴として残す</a:t>
            </a:r>
          </a:p>
        </p:txBody>
      </p:sp>
      <p:sp>
        <p:nvSpPr>
          <p:cNvPr id="12" name="Rule Text 3"/>
          <p:cNvSpPr txBox="1"/>
          <p:nvPr/>
        </p:nvSpPr>
        <p:spPr>
          <a:xfrm>
            <a:off x="6350000" y="3771900"/>
            <a:ext cx="3810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2300" b="1">
                <a:solidFill>
                  <a:srgbClr val="5D7182"/>
                </a:solidFill>
                <a:latin typeface="Yu Gothic"/>
                <a:ea typeface="Yu Gothic"/>
              </a:rPr>
              <a:t>旧実体は現行導線と混ぜない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09600" y="6438900"/>
            <a:ext cx="8890000" cy="203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ja-JP" sz="1100">
                <a:solidFill>
                  <a:srgbClr val="657064"/>
                </a:solidFill>
                <a:latin typeface="Yu Gothic"/>
                <a:ea typeface="Yu Gothic"/>
              </a:rPr>
              <a:t>fragrance_questionnaire / 2026-05-06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rent Source Map">
  <a:themeElements>
    <a:clrScheme name="Fragrance">
      <a:dk1>
        <a:srgbClr val="243126"/>
      </a:dk1>
      <a:lt1>
        <a:srgbClr val="F7F3EC"/>
      </a:lt1>
      <a:dk2>
        <a:srgbClr val="45624D"/>
      </a:dk2>
      <a:lt2>
        <a:srgbClr val="EFE6D7"/>
      </a:lt2>
      <a:accent1>
        <a:srgbClr val="B88A44"/>
      </a:accent1>
      <a:accent2>
        <a:srgbClr val="45624D"/>
      </a:accent2>
      <a:accent3>
        <a:srgbClr val="5D7182"/>
      </a:accent3>
      <a:accent4>
        <a:srgbClr val="A25B4B"/>
      </a:accent4>
      <a:accent5>
        <a:srgbClr val="657064"/>
      </a:accent5>
      <a:accent6>
        <a:srgbClr val="FFFFFF"/>
      </a:accent6>
      <a:hlink>
        <a:srgbClr val="5D7182"/>
      </a:hlink>
      <a:folHlink>
        <a:srgbClr val="657064"/>
      </a:folHlink>
    </a:clrScheme>
    <a:fontScheme name="Fragrance">
      <a:majorFont>
        <a:latin typeface="Yu Gothic"/>
        <a:ea typeface="Yu Gothic"/>
      </a:majorFont>
      <a:minorFont>
        <a:latin typeface="Yu Gothic"/>
        <a:ea typeface="Yu Gothic"/>
      </a:minorFont>
    </a:fontScheme>
    <a:fmtScheme name="Fragran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16:9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現行正本マップ</dc:title>
  <dc:creator>Codex</dc:creator>
  <cp:lastModifiedBy>Codex</cp:lastModifiedBy>
  <dcterms:created xsi:type="dcterms:W3CDTF">2026-05-06T13:09:31Z</dcterms:created>
  <dcterms:modified xsi:type="dcterms:W3CDTF">2026-05-06T13:09:31Z</dcterms:modified>
</cp:coreProperties>
</file>