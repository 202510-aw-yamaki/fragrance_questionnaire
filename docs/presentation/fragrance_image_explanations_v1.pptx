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1675"/>
  <p:notesSz cx="6858000" cy="12191675"/>
  <p:embeddedFontLst>
    <p:embeddedFont>
      <p:font typeface="No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hoP4NPz2bWpftwz0hhSU40x2rl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NotoSans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NotoSans-italic.fntdata"/><Relationship Id="rId12" Type="http://schemas.openxmlformats.org/officeDocument/2006/relationships/slide" Target="slides/slide8.xml"/><Relationship Id="rId34" Type="http://schemas.openxmlformats.org/officeDocument/2006/relationships/font" Target="fonts/NotoSans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NotoSan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0" name="Google Shape;79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" name="Google Shape;101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00-1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全体サイトマップ画像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初見客・会員・QR商品・スタッフ・管理者の全導線を俯瞰する図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全体サイトマップ画像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サイト全体のページ遷移と、会員導線/QR商品導線/スタッフ・管理者導線の分離を一目で理解させる画像。中心に「ワークショップ完成品」を置き、完成品から会員履歴とQR商品依頼に分岐する構造を示す。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admin-login.html はスタッフ/管理者の共通入口。スタッフログインタブは staff-dashboard へ、管理者ログインタブは admin-dashboard へ。admin権限保持者のみヘッダーから相互移動できる。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初見客導線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LP→アンケート→5軸グラフ→予約→予約完了の基本導線。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会員トップから過去制作履歴・再アンケート・比較表示へ進む導線。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QR商品導線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完成品に紐づくQRから第三者が作成依頼する導線。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予約確認、ヒアリング、調香、商品名・同意確認、QR発行を扱う。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店舗設定、配点ロジック、原料ポイント、QR商品設定を管理する。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00-2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DB接続・データ関係図画像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画面の裏側で、どのDBがどこに紐づくかを示す設計図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0" name="Google Shape;60;p2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2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DB接続・データ関係図画像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「誰のデータか」「どの商品か」「どの状態か」を混ぜないためのDB関係図。QR経由の第三者を会員DBに入れないという重要方針を明確にする。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customers → questionnaire_results → reservations → workshop_sessions → fragrance_products → product_qr_codes → qr_product_requests → shipping_details の流れが中心。通知・メール・設定は各状態に連動する。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会員本人の制作履歴・再来店管理。QR第三者は入れない。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questionnaire_results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アンケート回答と香り5軸を保存する。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workshop_sessions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来店時のヒアリング、最終配合、スタッフメモを保持する。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fragrance_products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完成品の中心DB。商品名、最終5軸、QR状態を持つ。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qr_product_requests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QRから来た作成依頼、メール、容量、ステータスを保持する。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index.html トップページ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一般ユーザー向けLP。管理者導線はフッターに小さく配置する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3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index.html トップページ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初見客にワークショップの魅力を伝え、アンケート開始・会員ログイン・予約へ誘導するLP全体像。縦長LPとして、世界観・体験の流れ・安心感を見せる。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主導線は questionnaire.html へ。会員は customer/login.html へ。スタッフ/管理者はフッターの「店舗スタッフ・管理者の方はこちら」から admin-login.html へ進む。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ヒーローコピー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「あなたの香りを、ワークショップで一緒に作る」で体験価値を提示。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アンケートCTA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初見客を香り診断に進める最重要ボタン。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体験の流れ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アンケート→5軸→予約→調香→完成品の全体理解。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ワークショップ魅力カード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アンケート・スタッフ調香・QR共有の価値を紹介。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フッター導線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店舗スタッフ・管理者向け入口。一般ユーザーには目立たせない。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customer/login.html 会員ログインページ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会員が制作履歴・再予約に戻るための入口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customer/login.html 会員ログインページ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過去の制作履歴、再予約、前回の香り比較へ戻るためのログイン画面。会員登録を強制するより、体験後の継続利用を自然に案内する。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ログイン成功後は customer/index.html へ。初回ログイン・パスワード設定は会員DB接続後に customer_accounts 等へ紐づく想定。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会員ID/メール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本人の制作履歴と紐づくログイン識別子。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パスワード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会員ページへの認証。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初回ログインリンク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ワークショップ時に登録したメールから初回設定する導線。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制作履歴案内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ログイン後に見られる価値を事前に伝える。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再予約案内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過去の完成品や再アンケートから予約できることを示す。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customer/index.html 会員トップページ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会員本人の制作履歴・再予約・新規アンケートのハブ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5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customer/index.html 会員トップページ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会員が過去に作った香水を振り返り、同じ香りの再予約や新しいアンケート回答に進む画面。QR商品導線とは分離された本人用ページ。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制作履歴は customers / fragrance_products / workshop_sessions に紐づく。再アンケートは questionnaire.html へ、比較は fragrance-graph.html 会員比較モードへ。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前回作成した香水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会員が直近の完成品をすぐ確認できるカード。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5軸ミニグラフ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完成品の最終5軸を小さく表示し、記憶を呼び戻す。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新しく香りを作る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現在の気分で再アンケートに進む導線。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制作履歴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過去の香水・来店日・担当スタッフの一覧。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比較案内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前回完成品と今回アンケート結果を見比べる価値を伝える。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customer/questionnaire.html 初回アンケートページ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初見客の好みや気分を香り5軸に変換する入口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8" name="Google Shape;208;p6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6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customer/questionnaire.html 初回アンケートページ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お客様の気分・好みから香りの方向性を取得する画面。ワークショップ前の期待感を高めながら、後続のスコアリングに必要な回答を集める。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回答は questionnaire_results に保存され、scoring_configs に基づき5軸へ変換される。分岐条件に応じて questionnaire_step2.html へ進む。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進行表示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回答負担を軽く見せ、途中離脱を抑える。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質問カード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香りの方向性を決める中心入力。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回答選択カード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視覚的に選べることで診断体験を楽しくする。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次へボタン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回答保存または一時保持後、次の設問へ進む。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5軸反映説明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回答が香りグラフにつながることを伝える。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customer/questionnaire_step2.html 分岐後アンケートページ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初回回答をもとに香り傾向をさらに絞り込む画面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5" name="Google Shape;245;p7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7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customer/questionnaire_step2.html 分岐後アンケートページ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初回アンケートの回答に応じて、甘さ・深み・爽やかさなどを追加調整する画面。単なる質問ではなく、香りを絞り込む体験として見せる。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questionnaire_results に追加回答を保存し、最終的な5軸スコアを fragrance-graph.html に渡す。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追加質問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初回回答から派生した詳細な好みを確認する。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スライダー/選択カード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甘さや深みの強弱を調整するUI。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現在の傾向表示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回答途中でも方向性が見えるため納得感が出る。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結果を見る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最終5軸グラフへ進むアクション。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分岐ロジック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scoring_configs の調整対象になる部分。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customer/fragrance-graph.html 通常結果ページ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アンケート結果から算出された香り5軸を表示する通常モード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82" name="Google Shape;282;p8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8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customer/fragrance-graph.html 通常結果ページ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初見客にアンケート結果を視覚化して見せ、予約へつなげる画面。会員比較がない通常モードでは、今回の診断結果だけを明確に示す。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questionnaire_results の5軸データを表示し、予約へ進むと reservations と紐づく。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5軸レーダーグラフ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華やかさ・甘さ・爽やかさ・落ち着き・深みを可視化。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結果コメント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数値だけではなく、香りの印象を文章で補足。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横棒スコア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各軸の強弱を理解しやすくする。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この香りで予約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診断結果を持ったまま reservation.html へ進む。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もう一度回答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回答をやり直したい人向けの戻り導線。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親：customer/fragrance-graph.html 会員比較モード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前回完成品と今回アンケート結果を横並びで比較する画面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9" name="Google Shape;319;p9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9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親：customer/fragrance-graph.html 会員比較モード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会員が再アンケート後に、前回作った香水と今回の気分の違いを見比べる画面。新規ページではなく fragrance-graph.html の表示モードとして扱う。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左は fragrance_products の最終5軸、右は questionnaire_results の今回5軸。予約時にどちらの傾向で進むかを選べる。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前回作成した香水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過去の完成品データを表示し、比較軸にする。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今回のアンケート結果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現在の気分から算出された5軸。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差分コメント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前回より爽やか、甘さ控えめ等を文章化。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この傾向で予約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今回の5軸を予約に紐づける。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前回の香りで予約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過去完成品ベースの再予約に進む。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子：customer/fragrance-graph.html 比較拡大モーダル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会員比較を大きく表示し、違いを詳しく確認するモーダル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56" name="Google Shape;356;p10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10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子：customer/fragrance-graph.html 比較拡大モーダル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親画面の比較結果を、より見やすい大きなモーダルとして表示する。会員が納得して再予約できるよう、原料タグや傾向タグを補足する。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親は fragrance-graph.html 会員比較モード。モーダル内での予約ボタンは同じ予約導線へつながる。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前回完成品グラフ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fragrance_products に保存された最終5軸。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今回結果グラフ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今回アンケートの5軸。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使用原料タグ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前回香水の主要原料を簡潔に表示。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傾向タグ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今回結果の特徴を短く表現する。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差分まとめ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予約判断に役立つ比較コメント。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customer/reservation.html 来店予約ページ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アンケート結果を持ったままワークショップ日時を予約する画面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93" name="Google Shape;393;p11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1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customer/reservation.html 来店予約ページ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カレンダーと時間枠から来店日時を選び、予約者情報を入力する画面。香りの傾向を予約データに紐づけ、スタッフが当日確認できる状態にする。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reservation_slots から空き枠を表示し、予約確定時に reservations と questionnaire_results を紐づける。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カレンダー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予約可能日を視覚的に選ぶ。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時間枠カード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選択日の空き時間を表示する。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予約内容カード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香り傾向・所要時間・担当情報を確認する。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名前/メール/備考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予約連絡とスタッフ準備に必要な情報。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この日時で予約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 へ保存する確定アクション。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customer/reservation-complete.html 予約完了ページ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予約完了の安心感と当日への期待を伝える画面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30" name="Google Shape;430;p12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2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customer/reservation-complete.html 予約完了ページ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予約受付が完了したことを明確に伝え、当日の流れと会員ログイン導線を案内する画面。顧客に安心感を持たせる。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 の保存完了後に表示。会員登録済みまたはメール登録済みの場合は後続の会員導線へつながる。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完了アイコン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予約が正常に完了したことを瞬時に伝える。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予約内容カード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日時・所要時間・香り傾向・メールを確認する。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当日の案内文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スタッフがアンケート結果を見ながら対応することを伝える。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トップへ戻る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LPへ戻る導線。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会員ログイン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制作履歴や再予約につながる補助導線。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customer/product-reservation.html QR商品作成依頼ページ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QRから来た第三者が会員登録なしで作成依頼するページ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67" name="Google Shape;467;p13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3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customer/product-reservation.html QR商品作成依頼ページ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商品名、容量、数量、メールだけで軽く依頼できる画面。購入ではなく、原材料確認前の「作成依頼」であることを明確にする。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product_qr_codes から fragrance_products を取得し、送信時に qr_product_requests を作成。作成可能後に shipping-info.html へ進む。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商品名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QR商品ページで見せる最小の商品情報。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容量・価格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10ml/30mlの税込価格を表示。管理者設定から取得。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数量ステッパー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容量違いを同時に依頼可能にする。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依頼内容カード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金額と合計容量を自動計算する。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メール入力/CTA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受付メール送信と在庫確認通知のための最小入力。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customer/shipping-info.html 発送先入力ページ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作成可能メール後に発送先を入力する画面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04" name="Google Shape;504;p14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14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customer/shipping-info.html 発送先入力ページ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原材料在庫確認後、作成可能と判断された依頼者だけが開くページ。ここではじめて名前・住所・電話番号を取得する。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qr_product_requests が available_email_sent 状態の時だけ開く。送信後は shipping_details を保存し、status を shipping_pending へ変更する。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4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商品確認カード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依頼内容を再確認し、間違いを防ぐ。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住所フォーム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発送に必要な名前・郵便番号・住所・電話を取得。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決済方法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初期実装では着払いのみ。カード決済は表示しない。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送料注意文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送料・手数料が別途であることを明確にする。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発送先を送信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発送準備中へ進める確定アクション。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admin-login.html 共通ログインページ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スタッフログインと管理者ログインをタブで切り替える共通入口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41" name="Google Shape;541;p15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5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admin-login.html 共通ログインページ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独立した staff-login.html を作らず、admin-login.html をスタッフ/管理者共通ログイン入口として使う画面。役割はタブで明確に分ける。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スタッフタブは staff-dashboard へ、管理者タブは admin-dashboard へ。admin権限保持者はログイン後に両画面を行き来できる。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スタッフログインタブ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予約確認・ヒアリング・調香作業へ入る入口。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管理者ログインタブ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設定・ロジック・原料・QR管理へ入る入口。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ID/メール・パスワード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役割に応じた認証入力。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役割説明カード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ログイン後にできることを事前に示す。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権限分離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UIタブだけでなく、DB/認証側でも権限確認が必要。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staff/staff-dashboard.html スタッフダッシュボード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スタッフが本日の予約・通知・次の対応を把握する画面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78" name="Google Shape;578;p16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16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staff/staff-dashboard.html スタッフダッシュボード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スタッフの業務開始画面。本日の予約、QR作成依頼、通知、次の対応を一画面で把握する。admin権限保持者には管理者画面へのリンクも表示する。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reservations、notification_events、qr_product_requests を集約表示。管理者リンクは role/admin 権限がある場合のみ表示。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通知バッジ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新規予約やQR依頼など、対応が必要な件数を示す。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KPIカード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本日の予約・未確認・QR依頼・発送準備中を把握。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予約リスト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時間順にお客様対応の優先順位を示す。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8" name="Google Shape;598;p16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通知パネル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予約・QR・発送準備などのイベントを表示。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管理者画面へ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admin権限保持スタッフだけに表示する切替リンク。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2" name="Google Shape;602;p16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7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staff/staff-reservations.html スタッフ予約一覧ページ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予約者を検索・確認し、顧客詳細へ進む画面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15" name="Google Shape;615;p17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17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staff/staff-reservations.html スタッフ予約一覧ページ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日付・スタッフ・ステータスで予約を絞り込み、詳細確認へ進む業務画面。来店前の準備状況を一覧で把握する。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 と questionnaire_results の紐づきを一覧表示。詳細ボタンから staff-customer-detail.html へ遷移。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7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フィルター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日付・スタッフ・ステータスで予約を整理。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予約テーブル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時間、顧客、香り傾向、メモ、状態を一覧化。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事前メモ表示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来店前準備があるかを確認する目印。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詳細を見る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6" name="Google Shape;636;p17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顧客詳細・ヒアリング・調香画面へ進む。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当日サマリー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8" name="Google Shape;638;p17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未確認やメモ未記入を把握する管理補助。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9" name="Google Shape;639;p17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8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staff/staff-slots.html 予約枠作成ページ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スタッフが出勤日時に合わせて予約枠を作る画面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52" name="Google Shape;652;p18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18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staff/staff-slots.html 予約枠作成ページ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8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7" name="Google Shape;657;p18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スタッフが自分の出勤日時に合わせて、ワークショップの予約枠を作成・確認する画面。空き・予約済み・休憩を状態別に見せる。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8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reservation_slots を作成・更新。予約済み枠は reservations と紐づき、予約一覧に反映される。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1" name="Google Shape;661;p18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6" name="Google Shape;666;p18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週カレンダー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7" name="Google Shape;667;p18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日付ごとの予約枠状況を俯瞰する。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時間枠作成フォーム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開始/終了時間、枠数、担当スタッフを入力。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予約枠一覧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1" name="Google Shape;671;p18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作成済み枠の空き/予約済みを確認。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2" name="Google Shape;672;p18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ステータス色分け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空き・予約済み・休憩を視覚的に判別。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管理者画面へ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admin権限保持スタッフが管理者機能へ移動する。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9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9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9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親：staff/staff-customer-detail.html スタッフ専用詳細ページ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スタッフ専用情報とお客様共有操作を分ける作業ハブ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89" name="Google Shape;689;p19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p19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親：staff/staff-customer-detail.html スタッフ専用詳細ページ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9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顧客情報、アンケート結果、来店前メモ、当日ヒアリング、最終配合、QR発行を扱うスタッフ用画面。お客様に見せる部分はモーダルに切り出す。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5" name="Google Shape;695;p19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9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 / questionnaire_results / workshop_sessions / fragrance_products / consent_logs / email_logs と接続する中心画面。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8" name="Google Shape;698;p19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9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2" name="Google Shape;702;p19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3" name="Google Shape;703;p19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お客様概要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4" name="Google Shape;704;p19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予約日時、メール、香り傾向、会員/QR状況を確認。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5" name="Google Shape;705;p19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スタッフ専用欄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6" name="Google Shape;706;p19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来店前メモ、当日ヒアリング、感想メモなど見せない情報。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7" name="Google Shape;707;p19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お客様共有アクション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8" name="Google Shape;708;p19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香り調整・商品名・同意確認をモーダルで開く。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最終配合保存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0" name="Google Shape;710;p19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完成品データを fragrance_products に保存する作業。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1" name="Google Shape;711;p19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QR発行・メール送信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QRを作成し、お客様へメール送信するスタッフ操作。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3" name="Google Shape;713;p19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0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0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0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4" name="Google Shape;724;p20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香りのバランス調整モーダル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5" name="Google Shape;725;p20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スタッフとお客様が一緒に見る調香体験の中心UI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26" name="Google Shape;726;p20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7" name="Google Shape;727;p20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香りのバランス調整モーダル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9" name="Google Shape;729;p20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スタッフ専用詳細から開く、お客様共有モーダル。香り5軸、原料比率、全体バランスを見ながら一緒に調整する。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0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調整結果は workshop_sessions の最終配合、fragrance_products の最終5軸・formula_json に保存される。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0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8" name="Google Shape;738;p20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0" name="Google Shape;740;p20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全体5軸グラフ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1" name="Google Shape;741;p20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完成予定の香りバランスをお客様と共有。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2" name="Google Shape;742;p20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現在のバランススライダー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3" name="Google Shape;743;p20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華やかさ等の各軸の強弱を直感的に確認。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4" name="Google Shape;744;p20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5" name="Google Shape;745;p20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ローズ、ベルガモット等の比率と特徴を表示。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6" name="Google Shape;746;p20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合計100%表示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7" name="Google Shape;747;p20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配合比率の整合性を明確にする。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8" name="Google Shape;748;p20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調整内容を最終配合として保存する。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0" name="Google Shape;750;p20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1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1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1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1" name="Google Shape;761;p21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商品名入力モーダル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2" name="Google Shape;762;p21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お客様と一緒にQR商品ページに出す名前を決める画面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63" name="Google Shape;763;p21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4" name="Google Shape;764;p21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5" name="Google Shape;765;p21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商品名入力モーダル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8" name="Google Shape;768;p21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完成した香水に商品名を付けるためのモーダル。QRページには商品名のみを出すため、この入力が重要になる。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9" name="Google Shape;769;p21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1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1" name="Google Shape;771;p21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保存先は fragrance_products.product_name / display_name。QR商品ページ customer/product-reservation.html に表示される。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2" name="Google Shape;772;p21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1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4" name="Google Shape;774;p21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5" name="Google Shape;775;p21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6" name="Google Shape;776;p21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7" name="Google Shape;777;p21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商品名入力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8" name="Google Shape;778;p21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お客様とスタッフが相談して名前を決める。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9" name="Google Shape;779;p21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候補チップ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0" name="Google Shape;780;p21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迷った時にスタッフが提案できる名称例。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1" name="Google Shape;781;p21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QR表示プレビュー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2" name="Google Shape;782;p21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第三者に見える商品名の見え方を確認。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3" name="Google Shape;783;p21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説明文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4" name="Google Shape;784;p21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この名前がQRページに表示されることを伝える。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5" name="Google Shape;785;p21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6" name="Google Shape;786;p21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商品名を完成品データに保存する。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7" name="Google Shape;787;p21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2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8" name="Google Shape;798;p22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同意確認モーダル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9" name="Google Shape;799;p22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個人情報同意と第三者作成同意をお客様と一緒に確認する画面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00" name="Google Shape;800;p22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22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2" name="Google Shape;802;p22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子：staff-customer-detail 同意確認モーダル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3" name="Google Shape;803;p22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2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5" name="Google Shape;805;p22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スタッフがお客様に画面を見せながら説明し、個人情報の扱いとQR経由の第三者作成依頼について同意を取得する。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6" name="Google Shape;806;p22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2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8" name="Google Shape;808;p22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同意状態は consent_logs に保存。QR発行条件の1つとして使う。</a:t>
            </a:r>
            <a:endParaRPr b="0" i="0" sz="750" u="none" cap="none" strike="noStrike">
              <a:solidFill>
                <a:srgbClr val="2F2925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lang="en-US" sz="750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補足</a:t>
            </a:r>
            <a:r>
              <a:rPr lang="en-US" sz="750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 workshop_sessions には同意済み判定の参照だけを持たせてもよい。</a:t>
            </a:r>
            <a:endParaRPr sz="750">
              <a:solidFill>
                <a:srgbClr val="2F292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9" name="Google Shape;809;p22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1" name="Google Shape;811;p22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2" name="Google Shape;812;p22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3" name="Google Shape;813;p22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4" name="Google Shape;814;p22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個人情報同意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5" name="Google Shape;815;p22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予約・連絡・商品案内にメール等を使うことへの同意。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6" name="Google Shape;816;p22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第三者作成同意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7" name="Google Shape;817;p22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QR経由で第三者が同じ香りを作成依頼できることへの同意。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8" name="Google Shape;818;p22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確認スタッフ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9" name="Google Shape;819;p22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誰が説明・確認したかの証跡。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0" name="Google Shape;820;p22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確認日時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1" name="Google Shape;821;p22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同意を取った日時の記録。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2" name="Google Shape;822;p22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同意内容を保存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3" name="Google Shape;823;p22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QR発行条件を満たすための保存アクション。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4" name="Google Shape;824;p22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3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3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3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5" name="Google Shape;835;p23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admin/admin-dashboard.html 管理者ダッシュボード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6" name="Google Shape;836;p23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店舗運用とQR関連通知を俯瞰する管理者トップ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37" name="Google Shape;837;p23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8" name="Google Shape;838;p23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9" name="Google Shape;839;p23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admin/admin-dashboard.html 管理者ダッシュボード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0" name="Google Shape;840;p23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3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2" name="Google Shape;842;p23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予約、スタッフ、QR依頼、期限超過、発送準備などの運用状態を管理者が把握する画面。admin権限保持者はスタッフ画面へ戻れる。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3" name="Google Shape;843;p23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3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5" name="Google Shape;845;p23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reservations、reservation_slots、qr_product_requests、notification_events を集約表示。スタッフ画面へのリンクはadmin権限者向け。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6" name="Google Shape;846;p23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3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8" name="Google Shape;848;p23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9" name="Google Shape;849;p23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0" name="Google Shape;850;p23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1" name="Google Shape;851;p23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KPIカード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2" name="Google Shape;852;p23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予約数、未確認、QR依頼、期限超過、発送準備中を数値化。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3" name="Google Shape;853;p23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QR関連通知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4" name="Google Shape;854;p23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管理者が見るべきQR問題を集約。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5" name="Google Shape;855;p23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予約・スタッフ状況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6" name="Google Shape;856;p23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当日の店舗体制を把握する。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7" name="Google Shape;857;p23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導線カード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8" name="Google Shape;858;p23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ロジック、原料、QR設定、店舗情報へ移動。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9" name="Google Shape;859;p23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スタッフ画面へ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0" name="Google Shape;860;p23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管理者スタッフが現場画面に戻るためのリンク。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1" name="Google Shape;861;p23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4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4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4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2" name="Google Shape;872;p24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admin/admin-settings.html 基本設定・店舗情報ページ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3" name="Google Shape;873;p24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店舗情報・スタッフ管理・予約基本設定を扱う管理画面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74" name="Google Shape;874;p24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5" name="Google Shape;875;p24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6" name="Google Shape;876;p24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admin/admin-settings.html 基本設定・店舗情報ページ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7" name="Google Shape;877;p24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4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9" name="Google Shape;879;p24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店舗名、電話番号、営業時間、スタッフ管理、予約基本設定をまとめるページ。QR価格等は専用ページに分離する。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0" name="Google Shape;880;p24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4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2" name="Google Shape;882;p24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store_settings、staff_profiles、reservation 設定系のデータを管理。QR関連は admin-qr-settings.html に誘導。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3" name="Google Shape;883;p24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4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5" name="Google Shape;885;p24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6" name="Google Shape;886;p24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7" name="Google Shape;887;p24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8" name="Google Shape;888;p24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店舗情報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9" name="Google Shape;889;p24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電話番号や営業時間など、各画面・メールで共通参照する情報。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0" name="Google Shape;890;p24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スタッフ管理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1" name="Google Shape;891;p24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スタッフの役割、在籍状況、追加を管理。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2" name="Google Shape;892;p24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予約基本設定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3" name="Google Shape;893;p24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標準時間、休憩、最大予約数などを設定。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4" name="Google Shape;894;p24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QR設定リンク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5" name="Google Shape;895;p24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QR価格や期限は専用ページへ分離。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6" name="Google Shape;896;p24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7" name="Google Shape;897;p24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設定値をDBへ保存する。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8" name="Google Shape;898;p24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5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5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5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9" name="Google Shape;909;p25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admin/admin-scoring.html 配点ロジック調整ページ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0" name="Google Shape;910;p25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アンケート回答を香り5軸へ変換するロジックを調整する画面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11" name="Google Shape;911;p25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2" name="Google Shape;912;p25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3" name="Google Shape;913;p25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admin/admin-scoring.html 配点ロジック調整ページ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4" name="Google Shape;914;p25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5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6" name="Google Shape;916;p25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質問ごとの選択肢が5軸へどう影響するかを管理者が調整する画面。クライアント満足ラインの中核。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7" name="Google Shape;917;p25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5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9" name="Google Shape;919;p25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scoring_configs を編集し、questionnaire_results の5軸算出に反映。JSON入出力でテンプレート管理も可能。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0" name="Google Shape;920;p25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5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2" name="Google Shape;922;p25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3" name="Google Shape;923;p25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4" name="Google Shape;924;p25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5" name="Google Shape;925;p25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質問一覧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6" name="Google Shape;926;p25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編集対象のアンケート設問を選ぶ。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7" name="Google Shape;927;p25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配点入力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8" name="Google Shape;928;p25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回答ごとに華やかさ等の5軸スコアを設定。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9" name="Google Shape;929;p25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プレビューグラフ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0" name="Google Shape;930;p25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回答選択時の5軸変化を確認。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1" name="Google Shape;931;p25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保存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2" name="Google Shape;932;p25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DB上のロジック設定を更新。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3" name="Google Shape;933;p25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JSON入出力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4" name="Google Shape;934;p25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季節や運用に合わせたロジック保存・読込。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5" name="Google Shape;935;p25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6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6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26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6" name="Google Shape;946;p26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admin/admin-materials.html 原料ポイント編集ページ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7" name="Google Shape;947;p26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各原料が香り5軸に与える特徴を編集する画面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48" name="Google Shape;948;p26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9" name="Google Shape;949;p26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0" name="Google Shape;950;p26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admin/admin-materials.html 原料ポイント編集ページ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1" name="Google Shape;951;p26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6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3" name="Google Shape;953;p26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ローズ、ベルガモット、サンダルウッド等の原料ごとの香りポイントを編集し、最終配合や提案ロジックに使える状態にする。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4" name="Google Shape;954;p26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6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6" name="Google Shape;956;p26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material_points を編集。スタッフの香り調整や最終5軸計算に利用される。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7" name="Google Shape;957;p26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6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9" name="Google Shape;959;p26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0" name="Google Shape;960;p26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1" name="Google Shape;961;p26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2" name="Google Shape;962;p26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原料一覧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3" name="Google Shape;963;p26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編集対象の原料を選ぶ。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4" name="Google Shape;964;p26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原料カテゴリ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5" name="Google Shape;965;p26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フローラル等、原料の分類を管理。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6" name="Google Shape;966;p26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5軸ポイント入力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7" name="Google Shape;967;p26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原料単体の香り傾向を数値化。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8" name="Google Shape;968;p26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レーダープレビュー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9" name="Google Shape;969;p26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入力したポイントを視覚的に確認。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0" name="Google Shape;970;p26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JSON入出力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1" name="Google Shape;971;p26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原料ポイント設定の保存・読込に使う。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2" name="Google Shape;972;p26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7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7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7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3" name="Google Shape;983;p27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admin/admin-qr-settings.html QR商品設定ページ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4" name="Google Shape;984;p27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QR商品の価格・容量上限・期限・通知を管理する専用画面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85" name="Google Shape;985;p27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6" name="Google Shape;986;p27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7" name="Google Shape;987;p27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admin/admin-qr-settings.html QR商品設定ページ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8" name="Google Shape;988;p27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27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0" name="Google Shape;990;p27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QR商品導線に関する運用値を一元管理するページ。admin-settings に混ぜず、QR専用の設定画面として独立させる。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1" name="Google Shape;991;p27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7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3" name="Google Shape;993;p27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lang="en-US" sz="750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`product_request_settings` には、10ml/30ml価格、最大依頼容量、作成可否確認期限、再案内期限、期限切れ条件、通知しきい値を含める</a:t>
            </a: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。QR商品ページと通知処理に反映される。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4" name="Google Shape;994;p27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7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6" name="Google Shape;996;p27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7" name="Google Shape;997;p27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8" name="Google Shape;998;p27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9" name="Google Shape;999;p27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価格設定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0" name="Google Shape;1000;p27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10ml/30mlの税込価格を管理者が変更する。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1" name="Google Shape;1001;p27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依頼上限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2" name="Google Shape;1002;p27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最大依頼容量を設定し、QRページのバリデーションに使う。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3" name="Google Shape;1003;p27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期限設定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4" name="Google Shape;1004;p27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3営業日、3日再案内、7日期限、14日再案内窓を管理。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5" name="Google Shape;1005;p27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通知設定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6" name="Google Shape;1006;p27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期限超過や無効QRアクセス通知のしきい値を設定。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7" name="Google Shape;1007;p27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表示プレビュー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8" name="Google Shape;1008;p27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QRページにどう表示されるかを確認する。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9" name="Google Shape;1009;p27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0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 cap="flat" cmpd="sng" w="12700">
            <a:solidFill>
              <a:srgbClr val="FBF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88A54"/>
          </a:solidFill>
          <a:ln cap="flat" cmpd="sng" w="1270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8"/>
          <p:cNvSpPr/>
          <p:nvPr/>
        </p:nvSpPr>
        <p:spPr>
          <a:xfrm>
            <a:off x="10881360" y="228600"/>
            <a:ext cx="914400" cy="914400"/>
          </a:xfrm>
          <a:prstGeom prst="ellipse">
            <a:avLst/>
          </a:prstGeom>
          <a:solidFill>
            <a:srgbClr val="F8E5DF">
              <a:alpha val="70196"/>
            </a:srgbClr>
          </a:solidFill>
          <a:ln cap="flat" cmpd="sng" w="12700">
            <a:solidFill>
              <a:srgbClr val="F8E5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8"/>
          <p:cNvSpPr/>
          <p:nvPr/>
        </p:nvSpPr>
        <p:spPr>
          <a:xfrm>
            <a:off x="137160" y="5943600"/>
            <a:ext cx="1005840" cy="1005840"/>
          </a:xfrm>
          <a:prstGeom prst="ellipse">
            <a:avLst/>
          </a:prstGeom>
          <a:solidFill>
            <a:srgbClr val="E8F0E4">
              <a:alpha val="65098"/>
            </a:srgbClr>
          </a:solidFill>
          <a:ln cap="flat" cmpd="sng" w="12700">
            <a:solidFill>
              <a:srgbClr val="E8F0E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8"/>
          <p:cNvSpPr/>
          <p:nvPr/>
        </p:nvSpPr>
        <p:spPr>
          <a:xfrm>
            <a:off x="502920" y="29260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0" name="Google Shape;1020;p28"/>
          <p:cNvSpPr/>
          <p:nvPr/>
        </p:nvSpPr>
        <p:spPr>
          <a:xfrm>
            <a:off x="1170432" y="25603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879"/>
              <a:buFont typeface="Noto Sans"/>
              <a:buNone/>
            </a:pPr>
            <a:r>
              <a:rPr b="1" i="0" lang="en-US" sz="18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admin/admin-dashboard.html QR関連通知詳細モーダル</a:t>
            </a:r>
            <a:endParaRPr b="0" i="0" sz="18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1" name="Google Shape;1021;p28"/>
          <p:cNvSpPr/>
          <p:nvPr/>
        </p:nvSpPr>
        <p:spPr>
          <a:xfrm>
            <a:off x="1188720" y="70408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665F"/>
              </a:buClr>
              <a:buSzPts val="870"/>
              <a:buFont typeface="Noto Sans"/>
              <a:buNone/>
            </a:pPr>
            <a:r>
              <a:rPr b="0" i="0" lang="en-US" sz="870" u="none" cap="none" strike="noStrike">
                <a:solidFill>
                  <a:srgbClr val="6F665F"/>
                </a:solidFill>
                <a:latin typeface="Noto Sans"/>
                <a:ea typeface="Noto Sans"/>
                <a:cs typeface="Noto Sans"/>
                <a:sym typeface="Noto Sans"/>
              </a:rPr>
              <a:t>QR関連の対応対象だけを絞って見る管理者モーダル</a:t>
            </a:r>
            <a:endParaRPr b="0" i="0" sz="8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22" name="Google Shape;1022;p28"/>
          <p:cNvCxnSpPr/>
          <p:nvPr/>
        </p:nvCxnSpPr>
        <p:spPr>
          <a:xfrm>
            <a:off x="502920" y="1051560"/>
            <a:ext cx="11155680" cy="0"/>
          </a:xfrm>
          <a:prstGeom prst="straightConnector1">
            <a:avLst/>
          </a:prstGeom>
          <a:noFill/>
          <a:ln cap="flat" cmpd="sng" w="10150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3" name="Google Shape;1023;p28"/>
          <p:cNvSpPr/>
          <p:nvPr/>
        </p:nvSpPr>
        <p:spPr>
          <a:xfrm>
            <a:off x="685800" y="1298448"/>
            <a:ext cx="960120" cy="2377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A54"/>
              </a:buClr>
              <a:buSzPts val="770"/>
              <a:buFont typeface="Noto Sans"/>
              <a:buNone/>
            </a:pPr>
            <a:r>
              <a:rPr b="1" i="0" lang="en-US" sz="770" u="none" cap="none" strike="noStrike">
                <a:solidFill>
                  <a:srgbClr val="B88A54"/>
                </a:solidFill>
                <a:latin typeface="Noto Sans"/>
                <a:ea typeface="Noto Sans"/>
                <a:cs typeface="Noto Sans"/>
                <a:sym typeface="Noto Sans"/>
              </a:rPr>
              <a:t>画像タイトル</a:t>
            </a:r>
            <a:endParaRPr b="0" i="0" sz="77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4" name="Google Shape;1024;p28"/>
          <p:cNvSpPr/>
          <p:nvPr/>
        </p:nvSpPr>
        <p:spPr>
          <a:xfrm>
            <a:off x="1783080" y="126187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admin/admin-dashboard.html QR関連通知詳細モーダル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5" name="Google Shape;1025;p28"/>
          <p:cNvSpPr/>
          <p:nvPr/>
        </p:nvSpPr>
        <p:spPr>
          <a:xfrm>
            <a:off x="685800" y="1719072"/>
            <a:ext cx="329184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B88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8"/>
          <p:cNvSpPr/>
          <p:nvPr/>
        </p:nvSpPr>
        <p:spPr>
          <a:xfrm>
            <a:off x="795528" y="1810512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30"/>
              <a:buFont typeface="Noto Sans"/>
              <a:buNone/>
            </a:pPr>
            <a:r>
              <a:rPr b="1" i="0" lang="en-US" sz="103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この画像の役割</a:t>
            </a:r>
            <a:endParaRPr b="0" i="0" sz="10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7" name="Google Shape;1027;p28"/>
          <p:cNvSpPr/>
          <p:nvPr/>
        </p:nvSpPr>
        <p:spPr>
          <a:xfrm>
            <a:off x="795528" y="2139696"/>
            <a:ext cx="3072384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80"/>
              <a:buFont typeface="Noto Sans"/>
              <a:buNone/>
            </a:pPr>
            <a:r>
              <a:rPr b="0" i="0" lang="en-US" sz="7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管理者ダッシュボードから開くQR関連通知の詳細モーダル。通知対象だけを表示し、通常履歴で画面が埋まらないようにする。</a:t>
            </a:r>
            <a:endParaRPr b="0" i="0" sz="7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8" name="Google Shape;1028;p28"/>
          <p:cNvSpPr/>
          <p:nvPr/>
        </p:nvSpPr>
        <p:spPr>
          <a:xfrm>
            <a:off x="685800" y="3246120"/>
            <a:ext cx="3291840" cy="1234440"/>
          </a:xfrm>
          <a:prstGeom prst="roundRect">
            <a:avLst>
              <a:gd fmla="val 16667" name="adj"/>
            </a:avLst>
          </a:prstGeom>
          <a:solidFill>
            <a:srgbClr val="E8F0E4"/>
          </a:solidFill>
          <a:ln cap="flat" cmpd="sng" w="10150">
            <a:solidFill>
              <a:srgbClr val="7A9B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8"/>
          <p:cNvSpPr/>
          <p:nvPr/>
        </p:nvSpPr>
        <p:spPr>
          <a:xfrm>
            <a:off x="795528" y="333756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ページ / DB 接続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0" name="Google Shape;1030;p28"/>
          <p:cNvSpPr/>
          <p:nvPr/>
        </p:nvSpPr>
        <p:spPr>
          <a:xfrm>
            <a:off x="795528" y="3666744"/>
            <a:ext cx="307238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notification_events、qr_product_requests、qr_access_logs の状態を表示。対応完了ステータスで通知から消える。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1" name="Google Shape;1031;p28"/>
          <p:cNvSpPr/>
          <p:nvPr/>
        </p:nvSpPr>
        <p:spPr>
          <a:xfrm>
            <a:off x="685800" y="4709160"/>
            <a:ext cx="3291840" cy="1207008"/>
          </a:xfrm>
          <a:prstGeom prst="roundRect">
            <a:avLst>
              <a:gd fmla="val 16667" name="adj"/>
            </a:avLst>
          </a:prstGeom>
          <a:solidFill>
            <a:srgbClr val="F8E5DF"/>
          </a:solidFill>
          <a:ln cap="flat" cmpd="sng" w="10150">
            <a:solidFill>
              <a:srgbClr val="C889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8"/>
          <p:cNvSpPr/>
          <p:nvPr/>
        </p:nvSpPr>
        <p:spPr>
          <a:xfrm>
            <a:off x="795528" y="4800600"/>
            <a:ext cx="30723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実装時の読み方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3" name="Google Shape;1033;p28"/>
          <p:cNvSpPr/>
          <p:nvPr/>
        </p:nvSpPr>
        <p:spPr>
          <a:xfrm>
            <a:off x="795528" y="5129784"/>
            <a:ext cx="3072384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40"/>
              <a:buFont typeface="Noto Sans"/>
              <a:buNone/>
            </a:pPr>
            <a:r>
              <a:rPr b="0" i="0" lang="en-US" sz="740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画像は世界観と画面構成の説明用。実装時はAGENTS.mdとdocs/00〜06を正本とし、UIだけでなくDB・認証・状態管理まで接続する。</a:t>
            </a:r>
            <a:endParaRPr b="0" i="0" sz="7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4" name="Google Shape;1034;p28"/>
          <p:cNvSpPr/>
          <p:nvPr/>
        </p:nvSpPr>
        <p:spPr>
          <a:xfrm>
            <a:off x="4251960" y="1719072"/>
            <a:ext cx="2326234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項目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5" name="Google Shape;1035;p28"/>
          <p:cNvSpPr/>
          <p:nvPr/>
        </p:nvSpPr>
        <p:spPr>
          <a:xfrm>
            <a:off x="6578194" y="1719072"/>
            <a:ext cx="4943246" cy="734568"/>
          </a:xfrm>
          <a:prstGeom prst="rect">
            <a:avLst/>
          </a:prstGeom>
          <a:solidFill>
            <a:srgbClr val="3B302A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5"/>
              <a:buFont typeface="Noto Sans"/>
              <a:buNone/>
            </a:pPr>
            <a:r>
              <a:rPr b="1" i="0" lang="en-US" sz="7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意味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6" name="Google Shape;1036;p28"/>
          <p:cNvSpPr/>
          <p:nvPr/>
        </p:nvSpPr>
        <p:spPr>
          <a:xfrm>
            <a:off x="4251960" y="2453640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通知タブ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7" name="Google Shape;1037;p28"/>
          <p:cNvSpPr/>
          <p:nvPr/>
        </p:nvSpPr>
        <p:spPr>
          <a:xfrm>
            <a:off x="6578194" y="2453640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期限超過、無効QRアクセス、再案内候補、発送準備中を分類。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8" name="Google Shape;1038;p28"/>
          <p:cNvSpPr/>
          <p:nvPr/>
        </p:nvSpPr>
        <p:spPr>
          <a:xfrm>
            <a:off x="4251960" y="3188208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通知カード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9" name="Google Shape;1039;p28"/>
          <p:cNvSpPr/>
          <p:nvPr/>
        </p:nvSpPr>
        <p:spPr>
          <a:xfrm>
            <a:off x="6578194" y="3188208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対象商品名、状態、依頼内容、受付日、処理状況を表示。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0" name="Google Shape;1040;p28"/>
          <p:cNvSpPr/>
          <p:nvPr/>
        </p:nvSpPr>
        <p:spPr>
          <a:xfrm>
            <a:off x="4251960" y="3922776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アクセス急増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1" name="Google Shape;1041;p28"/>
          <p:cNvSpPr/>
          <p:nvPr/>
        </p:nvSpPr>
        <p:spPr>
          <a:xfrm>
            <a:off x="6578194" y="3922776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無効QRでも需要がある商品を管理者が検知。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2" name="Google Shape;1042;p28"/>
          <p:cNvSpPr/>
          <p:nvPr/>
        </p:nvSpPr>
        <p:spPr>
          <a:xfrm>
            <a:off x="4251960" y="4657344"/>
            <a:ext cx="2326234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サマリー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3" name="Google Shape;1043;p28"/>
          <p:cNvSpPr/>
          <p:nvPr/>
        </p:nvSpPr>
        <p:spPr>
          <a:xfrm>
            <a:off x="6578194" y="4657344"/>
            <a:ext cx="4943246" cy="734568"/>
          </a:xfrm>
          <a:prstGeom prst="rect">
            <a:avLst/>
          </a:prstGeom>
          <a:solidFill>
            <a:srgbClr val="F7F0E8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対応すべき件数を短く把握する。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4" name="Google Shape;1044;p28"/>
          <p:cNvSpPr/>
          <p:nvPr/>
        </p:nvSpPr>
        <p:spPr>
          <a:xfrm>
            <a:off x="4251960" y="5391912"/>
            <a:ext cx="2326234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対応完了ボタン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5" name="Google Shape;1045;p28"/>
          <p:cNvSpPr/>
          <p:nvPr/>
        </p:nvSpPr>
        <p:spPr>
          <a:xfrm>
            <a:off x="6578194" y="5391912"/>
            <a:ext cx="4943246" cy="734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1D7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2925"/>
              </a:buClr>
              <a:buSzPts val="725"/>
              <a:buFont typeface="Noto Sans"/>
              <a:buNone/>
            </a:pPr>
            <a:r>
              <a:rPr b="0" i="0" lang="en-US" sz="725" u="none" cap="none" strike="noStrike">
                <a:solidFill>
                  <a:srgbClr val="2F2925"/>
                </a:solidFill>
                <a:latin typeface="Noto Sans"/>
                <a:ea typeface="Noto Sans"/>
                <a:cs typeface="Noto Sans"/>
                <a:sym typeface="Noto Sans"/>
              </a:rPr>
              <a:t>見ただけでは消さず、状態変更で通知を消す。</a:t>
            </a:r>
            <a:endParaRPr b="0" i="0" sz="72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6" name="Google Shape;1046;p28"/>
          <p:cNvSpPr/>
          <p:nvPr/>
        </p:nvSpPr>
        <p:spPr>
          <a:xfrm>
            <a:off x="502920" y="6565392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37A"/>
              </a:buClr>
              <a:buSzPts val="700"/>
              <a:buFont typeface="Noto Sans"/>
              <a:buNone/>
            </a:pPr>
            <a:r>
              <a:rPr b="0" i="0" lang="en-US" sz="700" u="none" cap="none" strike="noStrike">
                <a:solidFill>
                  <a:srgbClr val="8C837A"/>
                </a:solidFill>
                <a:latin typeface="Noto Sans"/>
                <a:ea typeface="Noto Sans"/>
                <a:cs typeface="Noto Sans"/>
                <a:sym typeface="Noto Sans"/>
              </a:rPr>
              <a:t>画像そのものは掲載せず、UIモック内の項目と意味を説明</a:t>
            </a:r>
            <a:endParaRPr b="0" i="0" sz="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2026-04-28T04:12:07Z</dcterms:created>
  <dc:creator>OpenAI</dc:creator>
</cp:coreProperties>
</file>