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1675"/>
  <p:notesSz cx="6858000" cy="12191675"/>
  <p:embeddedFontLst>
    <p:embeddedFont>
      <p:font typeface="No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wj7pJ00VIKcD4HYF7kcYyUA/4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NotoSans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o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otoSans-boldItalic.fntdata"/><Relationship Id="rId30" Type="http://schemas.openxmlformats.org/officeDocument/2006/relationships/font" Target="fonts/Noto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8"/>
              </a:buClr>
              <a:buSzPts val="2750"/>
              <a:buFont typeface="Noto Sans"/>
              <a:buNone/>
            </a:pPr>
            <a:r>
              <a:rPr b="1" i="0" lang="en-US" sz="2750" u="none" cap="none" strike="noStrike">
                <a:solidFill>
                  <a:srgbClr val="1C3558"/>
                </a:solidFill>
                <a:latin typeface="Noto Sans"/>
                <a:ea typeface="Noto Sans"/>
                <a:cs typeface="Noto Sans"/>
                <a:sym typeface="Noto Sans"/>
              </a:rPr>
              <a:t>香りワークショップ予約・QR商品化システム</a:t>
            </a:r>
            <a:endParaRPr b="0" i="0" sz="2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162763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現状整理と理想導線設計 v5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214884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アンケート・ロジック・DBを安定させ、その上でワークショップ完成品をQR商品として広げる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914400" y="3794760"/>
            <a:ext cx="1901952" cy="0"/>
          </a:xfrm>
          <a:prstGeom prst="straightConnector1">
            <a:avLst/>
          </a:prstGeom>
          <a:noFill/>
          <a:ln cap="flat" cmpd="sng" w="19050">
            <a:solidFill>
              <a:srgbClr val="5F94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" name="Google Shape;22;p1"/>
          <p:cNvCxnSpPr/>
          <p:nvPr/>
        </p:nvCxnSpPr>
        <p:spPr>
          <a:xfrm>
            <a:off x="3639312" y="3794760"/>
            <a:ext cx="1901952" cy="0"/>
          </a:xfrm>
          <a:prstGeom prst="straightConnector1">
            <a:avLst/>
          </a:prstGeom>
          <a:noFill/>
          <a:ln cap="flat" cmpd="sng" w="190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" name="Google Shape;23;p1"/>
          <p:cNvCxnSpPr/>
          <p:nvPr/>
        </p:nvCxnSpPr>
        <p:spPr>
          <a:xfrm>
            <a:off x="6364224" y="3794760"/>
            <a:ext cx="1901952" cy="0"/>
          </a:xfrm>
          <a:prstGeom prst="straightConnector1">
            <a:avLst/>
          </a:prstGeom>
          <a:noFill/>
          <a:ln cap="flat" cmpd="sng" w="190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" name="Google Shape;24;p1"/>
          <p:cNvCxnSpPr/>
          <p:nvPr/>
        </p:nvCxnSpPr>
        <p:spPr>
          <a:xfrm>
            <a:off x="9089136" y="3794760"/>
            <a:ext cx="1883664" cy="0"/>
          </a:xfrm>
          <a:prstGeom prst="straightConnector1">
            <a:avLst/>
          </a:prstGeom>
          <a:noFill/>
          <a:ln cap="flat" cmpd="sng" w="19050">
            <a:solidFill>
              <a:srgbClr val="F1A64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" name="Google Shape;25;p1"/>
          <p:cNvSpPr/>
          <p:nvPr/>
        </p:nvSpPr>
        <p:spPr>
          <a:xfrm>
            <a:off x="594360" y="3364992"/>
            <a:ext cx="1600200" cy="877824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安定した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アンケート基盤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816352" y="3364992"/>
            <a:ext cx="1600200" cy="877824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47488" y="3364992"/>
            <a:ext cx="1600200" cy="877824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再来店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269480" y="3364992"/>
            <a:ext cx="1600200" cy="877824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第三者依頼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491472" y="3364992"/>
            <a:ext cx="1600200" cy="877824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運用改善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5800" y="594360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8"/>
              </a:buClr>
              <a:buSzPts val="1080"/>
              <a:buFont typeface="Noto Sans"/>
              <a:buNone/>
            </a:pPr>
            <a:r>
              <a:rPr b="1" i="0" lang="en-US" sz="1080" u="none" cap="none" strike="noStrike">
                <a:solidFill>
                  <a:srgbClr val="1C3558"/>
                </a:solidFill>
                <a:latin typeface="Noto Sans"/>
                <a:ea typeface="Noto Sans"/>
                <a:cs typeface="Noto Sans"/>
                <a:sym typeface="Noto Sans"/>
              </a:rPr>
              <a:t>本資料の目的：張りぼて化を避け、誰が見ても納得できる「一本筋の通った設計」に整理する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v5：現状課題・裏側DB・QRリスク・実装順序まで再整理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このプロジェクトの一本筋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クライアント満足ラインと、こちらが届けたい追加価値を分けて設計する。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685800" y="1417320"/>
            <a:ext cx="3429000" cy="4343400"/>
          </a:xfrm>
          <a:prstGeom prst="roundRect">
            <a:avLst>
              <a:gd fmla="val 16667" name="adj"/>
            </a:avLst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95528" y="1527048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最低ライン：クライアントが満足する核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95528" y="1920240"/>
            <a:ext cx="3209544" cy="373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スコアリングロジック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香り5軸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予約・スタッフ確認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ロジックと原料ポイントを管理者が調整でき、DBに結果が残る状態。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389120" y="1417320"/>
            <a:ext cx="3429000" cy="4343400"/>
          </a:xfrm>
          <a:prstGeom prst="roundRect">
            <a:avLst>
              <a:gd fmla="val 16667" name="adj"/>
            </a:avLst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498848" y="1527048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追加価値：ワークショップだからできる拡張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498848" y="1920240"/>
            <a:ext cx="3209544" cy="373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完成品に商品名を付ける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QRを発行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SNSや紹介で共有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第三者が同じ香りを作成依頼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原材料があれば届けられる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092440" y="1417320"/>
            <a:ext cx="3429000" cy="4343400"/>
          </a:xfrm>
          <a:prstGeom prst="roundRect">
            <a:avLst>
              <a:gd fmla="val 16667" name="adj"/>
            </a:avLst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202168" y="1527048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今回の設計方針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202168" y="1920240"/>
            <a:ext cx="3209544" cy="373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既存画面は活かす。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ただし、DB・認証・状態管理は整理し直す。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特にQRコードとDBの古い扱いは、後からアキレス腱になりやすい。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現状のサイトマップ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README上の現行構成。顧客・スタッフ・管理者の入口はあるが、会員/QR商品導線は未完成。QR商品作成依頼ページは存在するが、DB接続・状態管理・メール/通知連携が未完成</a:t>
            </a:r>
            <a:r>
              <a:rPr lang="en-US" sz="920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sz="920">
              <a:solidFill>
                <a:srgbClr val="706E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3"/>
          <p:cNvCxnSpPr/>
          <p:nvPr/>
        </p:nvCxnSpPr>
        <p:spPr>
          <a:xfrm>
            <a:off x="1005840" y="192024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" name="Google Shape;65;p3"/>
          <p:cNvCxnSpPr/>
          <p:nvPr/>
        </p:nvCxnSpPr>
        <p:spPr>
          <a:xfrm>
            <a:off x="2907792" y="192024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" name="Google Shape;66;p3"/>
          <p:cNvCxnSpPr/>
          <p:nvPr/>
        </p:nvCxnSpPr>
        <p:spPr>
          <a:xfrm>
            <a:off x="4800600" y="192024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" name="Google Shape;67;p3"/>
          <p:cNvCxnSpPr/>
          <p:nvPr/>
        </p:nvCxnSpPr>
        <p:spPr>
          <a:xfrm>
            <a:off x="6693408" y="192024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3"/>
          <p:cNvCxnSpPr/>
          <p:nvPr/>
        </p:nvCxnSpPr>
        <p:spPr>
          <a:xfrm>
            <a:off x="8641080" y="192024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" name="Google Shape;69;p3"/>
          <p:cNvCxnSpPr/>
          <p:nvPr/>
        </p:nvCxnSpPr>
        <p:spPr>
          <a:xfrm>
            <a:off x="1097280" y="2331720"/>
            <a:ext cx="0" cy="146304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" name="Google Shape;70;p3"/>
          <p:cNvCxnSpPr/>
          <p:nvPr/>
        </p:nvCxnSpPr>
        <p:spPr>
          <a:xfrm>
            <a:off x="2011680" y="406908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" name="Google Shape;71;p3"/>
          <p:cNvCxnSpPr/>
          <p:nvPr/>
        </p:nvCxnSpPr>
        <p:spPr>
          <a:xfrm>
            <a:off x="3840480" y="406908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" name="Google Shape;72;p3"/>
          <p:cNvCxnSpPr/>
          <p:nvPr/>
        </p:nvCxnSpPr>
        <p:spPr>
          <a:xfrm>
            <a:off x="1097280" y="2331720"/>
            <a:ext cx="0" cy="297180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" name="Google Shape;73;p3"/>
          <p:cNvCxnSpPr/>
          <p:nvPr/>
        </p:nvCxnSpPr>
        <p:spPr>
          <a:xfrm>
            <a:off x="2240280" y="548640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3"/>
          <p:cNvCxnSpPr/>
          <p:nvPr/>
        </p:nvCxnSpPr>
        <p:spPr>
          <a:xfrm>
            <a:off x="4069080" y="548640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3"/>
          <p:cNvCxnSpPr/>
          <p:nvPr/>
        </p:nvCxnSpPr>
        <p:spPr>
          <a:xfrm>
            <a:off x="5897880" y="548640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3"/>
          <p:cNvSpPr/>
          <p:nvPr/>
        </p:nvSpPr>
        <p:spPr>
          <a:xfrm>
            <a:off x="594360" y="1207008"/>
            <a:ext cx="100584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94D9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5F94D9"/>
                </a:solidFill>
                <a:latin typeface="Noto Sans"/>
                <a:ea typeface="Noto Sans"/>
                <a:cs typeface="Noto Sans"/>
                <a:sym typeface="Noto Sans"/>
              </a:rPr>
              <a:t>顧客向け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1627632"/>
            <a:ext cx="114300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index.html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828800" y="1627632"/>
            <a:ext cx="132588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questionnaire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730752" y="1627632"/>
            <a:ext cx="132588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step2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623560" y="1627632"/>
            <a:ext cx="132588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graph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516368" y="1627632"/>
            <a:ext cx="132588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reservation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400032" y="1627632"/>
            <a:ext cx="164592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complete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965960" y="3401568"/>
            <a:ext cx="91440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A67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45A675"/>
                </a:solidFill>
                <a:latin typeface="Noto Sans"/>
                <a:ea typeface="Noto Sans"/>
                <a:cs typeface="Noto Sans"/>
                <a:sym typeface="Noto Sans"/>
              </a:rPr>
              <a:t>スタッフ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828800" y="3813048"/>
            <a:ext cx="1371600" cy="566928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0" y="3813048"/>
            <a:ext cx="1371600" cy="566928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reservations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40680" y="3813048"/>
            <a:ext cx="1783080" cy="566928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customer-detail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726680" y="3813048"/>
            <a:ext cx="1417320" cy="566928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slots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194560" y="4846320"/>
            <a:ext cx="91440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7C9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7567C9"/>
                </a:solidFill>
                <a:latin typeface="Noto Sans"/>
                <a:ea typeface="Noto Sans"/>
                <a:cs typeface="Noto Sans"/>
                <a:sym typeface="Noto Sans"/>
              </a:rPr>
              <a:t>管理者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057400" y="5230368"/>
            <a:ext cx="141732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886200" y="5230368"/>
            <a:ext cx="141732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settings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715000" y="5230368"/>
            <a:ext cx="141732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scoring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543800" y="5230368"/>
            <a:ext cx="141732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materials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646920" y="4434840"/>
            <a:ext cx="1965960" cy="1298448"/>
          </a:xfrm>
          <a:prstGeom prst="roundRect">
            <a:avLst>
              <a:gd fmla="val 16667" name="adj"/>
            </a:avLst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756648" y="4544568"/>
            <a:ext cx="1746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未完成の要所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756648" y="4937760"/>
            <a:ext cx="17465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product-reservation.html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会員DB接続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QR商品導線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参照：README上の現行サイトマップ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現状のDB・ロジック構成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既にある骨格は活かす。ただし会員・完成品商品化・QR依頼・通知は別途足す必要がある。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1554480" y="2057400"/>
            <a:ext cx="13716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4114800" y="2057400"/>
            <a:ext cx="13716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6675120" y="2057400"/>
            <a:ext cx="13716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4"/>
          <p:cNvCxnSpPr/>
          <p:nvPr/>
        </p:nvCxnSpPr>
        <p:spPr>
          <a:xfrm>
            <a:off x="9235440" y="2057400"/>
            <a:ext cx="12344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4"/>
          <p:cNvSpPr/>
          <p:nvPr/>
        </p:nvSpPr>
        <p:spPr>
          <a:xfrm>
            <a:off x="548640" y="1719072"/>
            <a:ext cx="1417320" cy="65836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scoring_configs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配点ロジック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88920" y="1719072"/>
            <a:ext cx="1508760" cy="65836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questionnaire</a:t>
            </a:r>
            <a:endParaRPr b="0" i="0" sz="8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0"/>
              <a:buFont typeface="Noto Sans"/>
              <a:buNone/>
            </a:pPr>
            <a:r>
              <a:rPr b="1" i="0" lang="en-US" sz="8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STEP1/2</a:t>
            </a:r>
            <a:endParaRPr b="0" i="0" sz="8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349240" y="1719072"/>
            <a:ext cx="1508760" cy="65836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5軸・回答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909560" y="1719072"/>
            <a:ext cx="1508760" cy="658368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reservations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149840" y="1719072"/>
            <a:ext cx="1508760" cy="658368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30"/>
              <a:buFont typeface="Noto Sans"/>
              <a:buNone/>
            </a:pPr>
            <a:r>
              <a:rPr b="1" i="0" lang="en-US" sz="7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workshop_sessions</a:t>
            </a:r>
            <a:endParaRPr b="0" i="0" sz="7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30"/>
              <a:buFont typeface="Noto Sans"/>
              <a:buNone/>
            </a:pPr>
            <a:r>
              <a:rPr b="1" i="0" lang="en-US" sz="7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最終配合</a:t>
            </a:r>
            <a:endParaRPr b="0" i="0" sz="7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6080760" y="2578608"/>
            <a:ext cx="0" cy="576072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4"/>
          <p:cNvSpPr/>
          <p:nvPr/>
        </p:nvSpPr>
        <p:spPr>
          <a:xfrm>
            <a:off x="5074920" y="3273552"/>
            <a:ext cx="2011680" cy="566928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reservation_slots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予約枠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1280160" y="4526280"/>
            <a:ext cx="14630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4"/>
          <p:cNvSpPr/>
          <p:nvPr/>
        </p:nvSpPr>
        <p:spPr>
          <a:xfrm>
            <a:off x="594360" y="4160520"/>
            <a:ext cx="1600200" cy="658368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material_points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原料ポイント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0" y="4160520"/>
            <a:ext cx="1645920" cy="658368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admin-materials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原料編集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715000" y="4160520"/>
            <a:ext cx="1600200" cy="658368"/>
          </a:xfrm>
          <a:prstGeom prst="rect">
            <a:avLst/>
          </a:prstGeom>
          <a:solidFill>
            <a:srgbClr val="EFECE5"/>
          </a:solidFill>
          <a:ln cap="flat" cmpd="sng" w="10150">
            <a:solidFill>
              <a:srgbClr val="CD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admin_settings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汎用設定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001000" y="4160520"/>
            <a:ext cx="1600200" cy="65836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admin-scoring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ロジック調整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0058400" y="4160520"/>
            <a:ext cx="1600200" cy="658368"/>
          </a:xfrm>
          <a:prstGeom prst="rect">
            <a:avLst/>
          </a:prstGeom>
          <a:solidFill>
            <a:srgbClr val="EFECE5"/>
          </a:solidFill>
          <a:ln cap="flat" cmpd="sng" w="10150">
            <a:solidFill>
              <a:srgbClr val="CD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admin-login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00"/>
              <a:buFont typeface="Noto Sans"/>
              <a:buNone/>
            </a:pPr>
            <a:r>
              <a:rPr b="1" i="0" lang="en-US" sz="8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共通ログイン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77240" y="5349240"/>
            <a:ext cx="3291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886968" y="545896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活かすもの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86968" y="5852160"/>
            <a:ext cx="3072384" cy="36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アンケート→5軸→予約→スタッフ詳細→最終配合の骨格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34840" y="5349240"/>
            <a:ext cx="3291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544568" y="545896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整理するもの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44568" y="5852160"/>
            <a:ext cx="3072384" cy="36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会員・権限・完成品・QR・通知・メール・期限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092440" y="5349240"/>
            <a:ext cx="3291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202168" y="545896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守ること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202168" y="5852160"/>
            <a:ext cx="3072384" cy="36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古いQR/DBの曖昧な紐づきを残さない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参照：schema.sql の現行テーブル構成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現状の課題点：ここを逃がすと後で絡まる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最初に挙げられた課題を、QR拡張より前の基盤課題として扱う。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685800" y="1325880"/>
            <a:ext cx="1909267" cy="830580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課題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595067" y="1325880"/>
            <a:ext cx="3394253" cy="830580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設計上の意味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85800" y="215646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会員DB接続が未実装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595067" y="215646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本人の制作履歴・再来店・初回アンケート紐づけが弱い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5800" y="2987040"/>
            <a:ext cx="1909267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再予約時の差分表示がない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595067" y="2987040"/>
            <a:ext cx="3394253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前回完成品 vs 今回アンケートの比較価値が出せない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85800" y="381762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商品予約ページが未作成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595067" y="381762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QR商品依頼の入口が実装されていない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5800" y="4648200"/>
            <a:ext cx="1909267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QR価格設定がない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595067" y="4648200"/>
            <a:ext cx="3394253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管理者が10ml/30ml価格を変えられない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85800" y="547878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管理者/スタッフログイン混在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595067" y="547878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権限分離が弱く、運用時に事故りやすい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217920" y="1325880"/>
            <a:ext cx="1909267" cy="830580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追加で見えた課題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127187" y="1325880"/>
            <a:ext cx="3394253" cy="830580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設計上の意味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217920" y="215646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商品名入力がない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127187" y="215646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QRページに出す表示名が作れない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217920" y="2987040"/>
            <a:ext cx="1909267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個人情報同意がリンクだけ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127187" y="2987040"/>
            <a:ext cx="3394253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保存・連絡利用の同意状態をDBに残せない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17920" y="381762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第三者作成同意がない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127187" y="381762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完成品をQR経由で依頼可能にする根拠がない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217920" y="4648200"/>
            <a:ext cx="1909267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QR依頼/通知/期限DBがない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127187" y="4648200"/>
            <a:ext cx="3394253" cy="83058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3営業日・7日期限・半年無効化を管理できない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17920" y="5478780"/>
            <a:ext cx="1909267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古いQR扱いが未整理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127187" y="5478780"/>
            <a:ext cx="3394253" cy="8305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残存QRが後からリスク・混乱・負債になりうる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設計原則：張りぼてにしないための分離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誰のデータか、どの商品か、どの状態かをDBで明確にする。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/>
          <p:nvPr/>
        </p:nvSpPr>
        <p:spPr>
          <a:xfrm>
            <a:off x="685800" y="1463040"/>
            <a:ext cx="2148840" cy="50292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会員とQRを分ける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85800" y="214884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会員DBは本人の履歴・再来店用。QR依頼者は会員化しない。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11880" y="1463040"/>
            <a:ext cx="2148840" cy="50292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完成品を中心にする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611880" y="214884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QRは「会員」ではなく、ワークショップで完成した香水に紐づく。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537960" y="1463040"/>
            <a:ext cx="2148840" cy="50292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状態で動かす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537960" y="214884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通知・メール・期限切れ・発送完了はステータス遷移で管理する。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9464040" y="1463040"/>
            <a:ext cx="2148840" cy="50292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設定値を外出しする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464040" y="214884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価格、最大ml、期限、店舗情報、通知しきい値は管理画面で変更。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0" name="Google Shape;190;p6"/>
          <p:cNvCxnSpPr/>
          <p:nvPr/>
        </p:nvCxnSpPr>
        <p:spPr>
          <a:xfrm>
            <a:off x="731520" y="3749040"/>
            <a:ext cx="10789920" cy="0"/>
          </a:xfrm>
          <a:prstGeom prst="straightConnector1">
            <a:avLst/>
          </a:prstGeom>
          <a:noFill/>
          <a:ln cap="flat" cmpd="sng" w="12700">
            <a:solidFill>
              <a:srgbClr val="DED8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"/>
          <p:cNvSpPr/>
          <p:nvPr/>
        </p:nvSpPr>
        <p:spPr>
          <a:xfrm>
            <a:off x="914400" y="4251960"/>
            <a:ext cx="3154680" cy="914400"/>
          </a:xfrm>
          <a:prstGeom prst="roundRect">
            <a:avLst>
              <a:gd fmla="val 16667" name="adj"/>
            </a:avLst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024128" y="436168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危険な作り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24128" y="4754880"/>
            <a:ext cx="2935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画面の都合で sessionStorage / 古いQR / 手動メモをつなぎ足す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26280" y="4251960"/>
            <a:ext cx="3154680" cy="914400"/>
          </a:xfrm>
          <a:prstGeom prst="roundRect">
            <a:avLst>
              <a:gd fmla="val 16667" name="adj"/>
            </a:avLst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636008" y="436168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正しい作り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636008" y="4754880"/>
            <a:ext cx="2935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DBに主キー・状態・期限・担当者・履歴を持たせる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138160" y="4251960"/>
            <a:ext cx="31546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8247888" y="436168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PPTXで見せるべきこと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247888" y="4754880"/>
            <a:ext cx="2935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既存を活かす部分と、作り直す裏側を分けて納得させる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クライアント満足ライン：アンケート・ロジック・DB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ここをまず強くすると、提案の土台が安定する。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7"/>
          <p:cNvCxnSpPr/>
          <p:nvPr/>
        </p:nvCxnSpPr>
        <p:spPr>
          <a:xfrm>
            <a:off x="1005840" y="2743200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5F94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7"/>
          <p:cNvCxnSpPr/>
          <p:nvPr/>
        </p:nvCxnSpPr>
        <p:spPr>
          <a:xfrm>
            <a:off x="3337560" y="2743200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5F94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7"/>
          <p:cNvCxnSpPr/>
          <p:nvPr/>
        </p:nvCxnSpPr>
        <p:spPr>
          <a:xfrm>
            <a:off x="5669280" y="2743200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5F94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7"/>
          <p:cNvCxnSpPr/>
          <p:nvPr/>
        </p:nvCxnSpPr>
        <p:spPr>
          <a:xfrm>
            <a:off x="8001000" y="2743200"/>
            <a:ext cx="1234440" cy="0"/>
          </a:xfrm>
          <a:prstGeom prst="straightConnector1">
            <a:avLst/>
          </a:prstGeom>
          <a:noFill/>
          <a:ln cap="flat" cmpd="sng" w="17775">
            <a:solidFill>
              <a:srgbClr val="5F94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7"/>
          <p:cNvSpPr/>
          <p:nvPr/>
        </p:nvSpPr>
        <p:spPr>
          <a:xfrm>
            <a:off x="594360" y="2331720"/>
            <a:ext cx="1371600" cy="82296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回答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331720" y="2331720"/>
            <a:ext cx="1371600" cy="82296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配点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ロジック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069080" y="2331720"/>
            <a:ext cx="1371600" cy="82296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香り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5軸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806440" y="2331720"/>
            <a:ext cx="1371600" cy="822960"/>
          </a:xfrm>
          <a:prstGeom prst="rect">
            <a:avLst/>
          </a:prstGeom>
          <a:solidFill>
            <a:srgbClr val="DFF3F2"/>
          </a:solidFill>
          <a:ln cap="flat" cmpd="sng" w="10150">
            <a:solidFill>
              <a:srgbClr val="2E8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グラフ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調整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543800" y="2331720"/>
            <a:ext cx="1371600" cy="82296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保存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9281160" y="2331720"/>
            <a:ext cx="1554480" cy="82296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確認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77240" y="393192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886968" y="404164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ロジック調整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886968" y="4434840"/>
            <a:ext cx="307238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管理者が配点テンプレート・分岐・仕上がりテンプレートを変更できる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434840" y="393192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44568" y="404164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原料ポイント調整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44568" y="4434840"/>
            <a:ext cx="307238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原材料ごとの香りポイントを編集し、将来の提案ロジックに使える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092440" y="393192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202168" y="4041648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DB保存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202168" y="4434840"/>
            <a:ext cx="307238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回答・5軸・予約・最終配合を分断せず追えるようにする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60120" y="5852160"/>
            <a:ext cx="10287000" cy="384048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この土台が固まると、QR商品導線は「後付けの飾り」ではなく「完成品の自然な出口」になる。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既存を活かす部分 / 作り直すべき部分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旧Codex由来の画面を否定せず、土台が弱い箇所を選んで直す。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3" name="Google Shape;243;p8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8"/>
          <p:cNvSpPr/>
          <p:nvPr/>
        </p:nvSpPr>
        <p:spPr>
          <a:xfrm>
            <a:off x="777240" y="1417320"/>
            <a:ext cx="2093062" cy="905256"/>
          </a:xfrm>
          <a:prstGeom prst="rect">
            <a:avLst/>
          </a:prstGeom>
          <a:solidFill>
            <a:srgbClr val="45A675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活かす部分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2870302" y="1417320"/>
            <a:ext cx="2890418" cy="905256"/>
          </a:xfrm>
          <a:prstGeom prst="rect">
            <a:avLst/>
          </a:prstGeom>
          <a:solidFill>
            <a:srgbClr val="45A675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理由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77240" y="2322576"/>
            <a:ext cx="2093062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ページ単位のHTML構成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870302" y="2322576"/>
            <a:ext cx="2890418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顧客・スタッフ・管理者の導線が見えている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77240" y="3227832"/>
            <a:ext cx="2093062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アンケートと5軸ロジック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2870302" y="3227832"/>
            <a:ext cx="2890418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クライアントが重視する中核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77240" y="4133088"/>
            <a:ext cx="2093062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管理者の配点/原料編集画面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870302" y="4133088"/>
            <a:ext cx="2890418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調整可能な状態という価値に直結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77240" y="5038344"/>
            <a:ext cx="2093062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スタッフ詳細画面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870302" y="5038344"/>
            <a:ext cx="2890418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ワークショップ現場の入力場所として使える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400800" y="1417320"/>
            <a:ext cx="2093062" cy="905256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整理/作り直す部分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493862" y="1417320"/>
            <a:ext cx="2890418" cy="905256"/>
          </a:xfrm>
          <a:prstGeom prst="rect">
            <a:avLst/>
          </a:prstGeom>
          <a:solidFill>
            <a:srgbClr val="D83A30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"/>
              <a:buNone/>
            </a:pPr>
            <a:r>
              <a:rPr b="1" i="0" lang="en-US" sz="8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理由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400800" y="2322576"/>
            <a:ext cx="2093062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会員DB・認証・権限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493862" y="2322576"/>
            <a:ext cx="2890418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会員/スタッフ/管理者が混ざると事故る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400800" y="3227832"/>
            <a:ext cx="2093062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完成品とQRのDB設計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493862" y="3227832"/>
            <a:ext cx="2890418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古いQRが残るとアキレス腱になる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400800" y="4133088"/>
            <a:ext cx="2093062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通知・ステータス・期限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493862" y="4133088"/>
            <a:ext cx="2890418" cy="9052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画面確認ではなく状態遷移で動かす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400800" y="5038344"/>
            <a:ext cx="2093062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QR依頼・発送・メールログ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493862" y="5038344"/>
            <a:ext cx="2890418" cy="90525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運用の証跡と自動処理に必要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理想形の全体フロー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アンケートで方向性を作り、ワークショップで完成品にし、会員とQRに分岐する。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5" name="Google Shape;275;p9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9"/>
          <p:cNvCxnSpPr/>
          <p:nvPr/>
        </p:nvCxnSpPr>
        <p:spPr>
          <a:xfrm>
            <a:off x="960120" y="237744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9"/>
          <p:cNvCxnSpPr/>
          <p:nvPr/>
        </p:nvCxnSpPr>
        <p:spPr>
          <a:xfrm>
            <a:off x="2971800" y="237744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9"/>
          <p:cNvCxnSpPr/>
          <p:nvPr/>
        </p:nvCxnSpPr>
        <p:spPr>
          <a:xfrm>
            <a:off x="4983480" y="237744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9"/>
          <p:cNvCxnSpPr/>
          <p:nvPr/>
        </p:nvCxnSpPr>
        <p:spPr>
          <a:xfrm>
            <a:off x="6995160" y="237744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9"/>
          <p:cNvSpPr/>
          <p:nvPr/>
        </p:nvSpPr>
        <p:spPr>
          <a:xfrm>
            <a:off x="502920" y="2011680"/>
            <a:ext cx="1234440" cy="68580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初見客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920240" y="2011680"/>
            <a:ext cx="1234440" cy="68580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337560" y="2011680"/>
            <a:ext cx="1234440" cy="68580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754880" y="2011680"/>
            <a:ext cx="1234440" cy="68580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来店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172200" y="2011680"/>
            <a:ext cx="1234440" cy="68580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635240" y="2011680"/>
            <a:ext cx="1417320" cy="68580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商品名/同意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6" name="Google Shape;286;p9"/>
          <p:cNvCxnSpPr/>
          <p:nvPr/>
        </p:nvCxnSpPr>
        <p:spPr>
          <a:xfrm flipH="1">
            <a:off x="6766560" y="2743200"/>
            <a:ext cx="1417320" cy="960120"/>
          </a:xfrm>
          <a:prstGeom prst="straightConnector1">
            <a:avLst/>
          </a:prstGeom>
          <a:noFill/>
          <a:ln cap="flat" cmpd="sng" w="15225">
            <a:solidFill>
              <a:srgbClr val="F48AC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9"/>
          <p:cNvCxnSpPr/>
          <p:nvPr/>
        </p:nvCxnSpPr>
        <p:spPr>
          <a:xfrm>
            <a:off x="8686800" y="2743200"/>
            <a:ext cx="960120" cy="960120"/>
          </a:xfrm>
          <a:prstGeom prst="straightConnector1">
            <a:avLst/>
          </a:prstGeom>
          <a:noFill/>
          <a:ln cap="flat" cmpd="sng" w="15225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9"/>
          <p:cNvSpPr/>
          <p:nvPr/>
        </p:nvSpPr>
        <p:spPr>
          <a:xfrm>
            <a:off x="5577840" y="3730752"/>
            <a:ext cx="1965960" cy="731520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会員ページ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制作履歴・再予約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8732520" y="3730752"/>
            <a:ext cx="1965960" cy="73152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QR商品ページ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第三者作成依頼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68680" y="5120640"/>
            <a:ext cx="31546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978408" y="523036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会員側の価値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78408" y="5623560"/>
            <a:ext cx="293522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0"/>
              <a:buFont typeface="Noto Sans"/>
              <a:buNone/>
            </a:pPr>
            <a:r>
              <a:rPr b="0" i="0" lang="en-US" sz="8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本人が過去の完成品を見て、再来店や再制作に使える</a:t>
            </a:r>
            <a:endParaRPr b="0" i="0" sz="8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526280" y="5120640"/>
            <a:ext cx="31546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636008" y="523036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店舗側の価値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636008" y="5623560"/>
            <a:ext cx="293522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0"/>
              <a:buFont typeface="Noto Sans"/>
              <a:buNone/>
            </a:pPr>
            <a:r>
              <a:rPr b="0" i="0" lang="en-US" sz="8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スタッフ成果・完成品・QR依頼・発送完了を追える</a:t>
            </a:r>
            <a:endParaRPr b="0" i="0" sz="8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183880" y="5120640"/>
            <a:ext cx="31546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8293608" y="523036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第三者側の価値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293608" y="5623560"/>
            <a:ext cx="293522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0"/>
              <a:buFont typeface="Noto Sans"/>
              <a:buNone/>
            </a:pPr>
            <a:r>
              <a:rPr b="0" i="0" lang="en-US" sz="8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会員登録なしで、紹介された同じ香りを依頼できる</a:t>
            </a:r>
            <a:endParaRPr b="0" i="0" sz="8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staff-customer-detail.html に追加すべき項目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ワークショップ中に完成品を商品化できる状態まで整える。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0" name="Google Shape;310;p10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0"/>
          <p:cNvCxnSpPr/>
          <p:nvPr/>
        </p:nvCxnSpPr>
        <p:spPr>
          <a:xfrm>
            <a:off x="914400" y="274320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0"/>
          <p:cNvCxnSpPr/>
          <p:nvPr/>
        </p:nvCxnSpPr>
        <p:spPr>
          <a:xfrm>
            <a:off x="2926080" y="274320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10"/>
          <p:cNvCxnSpPr/>
          <p:nvPr/>
        </p:nvCxnSpPr>
        <p:spPr>
          <a:xfrm>
            <a:off x="4937760" y="274320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10"/>
          <p:cNvCxnSpPr/>
          <p:nvPr/>
        </p:nvCxnSpPr>
        <p:spPr>
          <a:xfrm>
            <a:off x="6949440" y="274320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0"/>
          <p:cNvCxnSpPr/>
          <p:nvPr/>
        </p:nvCxnSpPr>
        <p:spPr>
          <a:xfrm>
            <a:off x="8961120" y="274320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45A6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10"/>
          <p:cNvSpPr/>
          <p:nvPr/>
        </p:nvSpPr>
        <p:spPr>
          <a:xfrm>
            <a:off x="502920" y="2331720"/>
            <a:ext cx="1280160" cy="82296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ヒアリング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メモ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920240" y="2331720"/>
            <a:ext cx="1280160" cy="82296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入力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337560" y="2331720"/>
            <a:ext cx="1280160" cy="82296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個人情報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同意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754880" y="2331720"/>
            <a:ext cx="1280160" cy="82296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第三者作成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同意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172200" y="2331720"/>
            <a:ext cx="1280160" cy="82296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最終配合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登録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589520" y="2331720"/>
            <a:ext cx="1280160" cy="822960"/>
          </a:xfrm>
          <a:prstGeom prst="rect">
            <a:avLst/>
          </a:prstGeom>
          <a:solidFill>
            <a:srgbClr val="DFF3F2"/>
          </a:solidFill>
          <a:ln cap="flat" cmpd="sng" w="10150">
            <a:solidFill>
              <a:srgbClr val="2E8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最終5軸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確認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9006840" y="2331720"/>
            <a:ext cx="1417320" cy="82296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発行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777240" y="3886200"/>
            <a:ext cx="1495044" cy="400050"/>
          </a:xfrm>
          <a:prstGeom prst="rect">
            <a:avLst/>
          </a:prstGeom>
          <a:solidFill>
            <a:srgbClr val="45A675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QR発行条件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272284" y="3886200"/>
            <a:ext cx="3488436" cy="400050"/>
          </a:xfrm>
          <a:prstGeom prst="rect">
            <a:avLst/>
          </a:prstGeom>
          <a:solidFill>
            <a:srgbClr val="45A675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内容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77240" y="4286250"/>
            <a:ext cx="1495044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272284" y="4286250"/>
            <a:ext cx="3488436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お客様が命名。迷う場合はスタッフが提案して一緒に決める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77240" y="4686300"/>
            <a:ext cx="1495044" cy="40005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最終配合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272284" y="4686300"/>
            <a:ext cx="3488436" cy="40005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原料3〜4種と割合。最終5軸に反映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777240" y="5086350"/>
            <a:ext cx="1495044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同意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272284" y="5086350"/>
            <a:ext cx="3488436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個人情報保存・第三者作成依頼をスタッフ画面で一緒に確認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400800" y="3886200"/>
            <a:ext cx="1893722" cy="400050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保存する同意ログ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8294522" y="3886200"/>
            <a:ext cx="3089758" cy="400050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初期粒度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400800" y="4286250"/>
            <a:ext cx="1893722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personal_info_consent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8294522" y="4286250"/>
            <a:ext cx="3089758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true / false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00800" y="4686300"/>
            <a:ext cx="1893722" cy="40005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third_party_order_consent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294522" y="4686300"/>
            <a:ext cx="3089758" cy="400050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true / false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00800" y="5086350"/>
            <a:ext cx="1893722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consented_at / staff_id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294522" y="5086350"/>
            <a:ext cx="3089758" cy="40005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日時と確認スタッフ。文言versionは将来追加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現状：staff-customer-detail.html は回答・5軸比較・最終配合・QR表示の枠はあるが、商品名/第三者同意が不足。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会員導線：本人の制作履歴と再来店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QR商品導線とは別枠。会員は「本人の体験」を蓄積する場所。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0" name="Google Shape;350;p11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1"/>
          <p:cNvSpPr/>
          <p:nvPr/>
        </p:nvSpPr>
        <p:spPr>
          <a:xfrm>
            <a:off x="685800" y="1325880"/>
            <a:ext cx="3200400" cy="4526280"/>
          </a:xfrm>
          <a:prstGeom prst="roundRect">
            <a:avLst>
              <a:gd fmla="val 16667" name="adj"/>
            </a:avLst>
          </a:prstGeom>
          <a:solidFill>
            <a:srgbClr val="DCEBFF">
              <a:alpha val="7843"/>
            </a:srgbClr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77240" y="1399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94D9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5F94D9"/>
                </a:solidFill>
                <a:latin typeface="Noto Sans"/>
                <a:ea typeface="Noto Sans"/>
                <a:cs typeface="Noto Sans"/>
                <a:sym typeface="Noto Sans"/>
              </a:rPr>
              <a:t>初回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480560" y="1325880"/>
            <a:ext cx="3200400" cy="4526280"/>
          </a:xfrm>
          <a:prstGeom prst="roundRect">
            <a:avLst>
              <a:gd fmla="val 16667" name="adj"/>
            </a:avLst>
          </a:prstGeom>
          <a:solidFill>
            <a:srgbClr val="FFE1F3">
              <a:alpha val="7843"/>
            </a:srgbClr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572000" y="1399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ACB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F48ACB"/>
                </a:solidFill>
                <a:latin typeface="Noto Sans"/>
                <a:ea typeface="Noto Sans"/>
                <a:cs typeface="Noto Sans"/>
                <a:sym typeface="Noto Sans"/>
              </a:rPr>
              <a:t>会員化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275320" y="1325880"/>
            <a:ext cx="3200400" cy="4526280"/>
          </a:xfrm>
          <a:prstGeom prst="roundRect">
            <a:avLst>
              <a:gd fmla="val 16667" name="adj"/>
            </a:avLst>
          </a:prstGeom>
          <a:solidFill>
            <a:srgbClr val="FFE9C9">
              <a:alpha val="7843"/>
            </a:srgbClr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8366760" y="139903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A64E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F1A64E"/>
                </a:solidFill>
                <a:latin typeface="Noto Sans"/>
                <a:ea typeface="Noto Sans"/>
                <a:cs typeface="Noto Sans"/>
                <a:sym typeface="Noto Sans"/>
              </a:rPr>
              <a:t>再来店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14400" y="1874520"/>
            <a:ext cx="2743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・アンケート回答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・予約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・来店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・ワークショップで完成品作成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・メールアドレス取得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4709160" y="1874520"/>
            <a:ext cx="2743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・メールアドレス確認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・仮パスワード送付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・ID/パスワード登録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・アンケート結果・予約・完成品を本人に紐づけ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・QR商品とは別枠で管理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8503920" y="1874520"/>
            <a:ext cx="2743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・会員ページにログイン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・過去の制作香水を確認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・前回完成品との差分を見る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・同じ香りを予約 / 再度アンケートから予約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914400" y="6053328"/>
            <a:ext cx="10332720" cy="384048"/>
          </a:xfrm>
          <a:prstGeom prst="rect">
            <a:avLst/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30"/>
              <a:buFont typeface="Noto Sans"/>
              <a:buNone/>
            </a:pPr>
            <a:r>
              <a:rPr b="1" i="0" lang="en-US" sz="9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未解決課題：会員ページからアンケート経由で予約する場合、前回完成品との差分表示がまだない。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QR商品導線の考え方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QRは会員ではなく、元のお客様の「完成品」に紐づく。第三者は会員登録不要。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72" name="Google Shape;372;p12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2"/>
          <p:cNvCxnSpPr/>
          <p:nvPr/>
        </p:nvCxnSpPr>
        <p:spPr>
          <a:xfrm>
            <a:off x="914400" y="2468880"/>
            <a:ext cx="12344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p12"/>
          <p:cNvCxnSpPr/>
          <p:nvPr/>
        </p:nvCxnSpPr>
        <p:spPr>
          <a:xfrm>
            <a:off x="3108960" y="2468880"/>
            <a:ext cx="12344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12"/>
          <p:cNvCxnSpPr/>
          <p:nvPr/>
        </p:nvCxnSpPr>
        <p:spPr>
          <a:xfrm>
            <a:off x="5303520" y="2468880"/>
            <a:ext cx="12344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12"/>
          <p:cNvCxnSpPr/>
          <p:nvPr/>
        </p:nvCxnSpPr>
        <p:spPr>
          <a:xfrm>
            <a:off x="7498080" y="2468880"/>
            <a:ext cx="12344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7" name="Google Shape;377;p12"/>
          <p:cNvSpPr/>
          <p:nvPr/>
        </p:nvSpPr>
        <p:spPr>
          <a:xfrm>
            <a:off x="502920" y="2084832"/>
            <a:ext cx="1234440" cy="777240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元の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お客様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965960" y="2084832"/>
            <a:ext cx="1417320" cy="77724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制作記録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069080" y="2084832"/>
            <a:ext cx="1417320" cy="77724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香水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6172200" y="2084832"/>
            <a:ext cx="1417320" cy="77724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QRコード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商品ページ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8275320" y="2084832"/>
            <a:ext cx="1508760" cy="77724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作成依頼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868680" y="388620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978408" y="399592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表示されるもの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978408" y="438912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商品名のみ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例：ニックネームさんの香水① / お客様が名付けた香水名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526280" y="388620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4636008" y="399592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表示しないもの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636008" y="438912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元会員情報 / アンケート回答 / 配合比率 / 詳細な香り説明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8183880" y="388620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8293608" y="399592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注文ではなく作成依頼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8293608" y="438912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原材料在庫を確認してから、発送先入力と着払いへ進む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QR商品ページ：最小入力で腰を軽くする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紹介・魅力づけはSNS側。QRページは依頼受付に徹する。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02" name="Google Shape;402;p13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3"/>
          <p:cNvSpPr/>
          <p:nvPr/>
        </p:nvSpPr>
        <p:spPr>
          <a:xfrm>
            <a:off x="777240" y="1417320"/>
            <a:ext cx="4709160" cy="4663440"/>
          </a:xfrm>
          <a:prstGeom prst="roundRect">
            <a:avLst>
              <a:gd fmla="val 16667" name="adj"/>
            </a:avLst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886968" y="1527048"/>
            <a:ext cx="4489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QR商品ページに出すもの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886968" y="1920240"/>
            <a:ext cx="448970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商品名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Noto Sans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容量・価格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10ml　1,000円（税込）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30ml　2,860円（税込）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Noto Sans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数量入力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10ml：＿本 / 30ml：＿本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Noto Sans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メールアドレス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Noto Sans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ボタン：この香水を作成依頼する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Noto Sans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※このボタンを押すと、原材料在庫の確認後、メールをさせていただきます。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897880" y="1417320"/>
            <a:ext cx="544068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007608" y="1527048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合計mlバリデーション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007608" y="1920240"/>
            <a:ext cx="5221224" cy="1362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10mlと30mlは同時依頼可能。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管理者設定の最大mlを超えた場合は送信不可。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デフォルト：合計100mlまで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897880" y="3703320"/>
            <a:ext cx="54406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007608" y="3813048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上限超過時の案内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6007608" y="4206240"/>
            <a:ext cx="5221224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まとまった本数をご希望の場合は、原材料の確認が必要となります。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恐れ入りますが、営業時間内に店舗までお電話にてご相談ください。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5897880" y="5504688"/>
            <a:ext cx="544068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D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6007608" y="5614416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送料・手数料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3"/>
          <p:cNvSpPr/>
          <p:nvPr/>
        </p:nvSpPr>
        <p:spPr>
          <a:xfrm flipH="1" rot="10800000">
            <a:off x="6007608" y="5971032"/>
            <a:ext cx="5221224" cy="36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60"/>
              <a:buFont typeface="Noto Sans"/>
              <a:buNone/>
            </a:pPr>
            <a:r>
              <a:rPr b="0" i="0" lang="en-US" sz="76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商品本体は税込表示。送料・着払い手数料は別途案内。発送元は東京想定。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QR作成依頼：ステータスとメール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3営業日ルールをDBの状態遷移として持たせる。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26" name="Google Shape;426;p14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4"/>
          <p:cNvSpPr/>
          <p:nvPr/>
        </p:nvSpPr>
        <p:spPr>
          <a:xfrm>
            <a:off x="685800" y="1325880"/>
            <a:ext cx="1604772" cy="724989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状態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2290572" y="1325880"/>
            <a:ext cx="3744468" cy="724989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トリガー / 送信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685800" y="2050869"/>
            <a:ext cx="160477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作成依頼受付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2290572" y="2050869"/>
            <a:ext cx="374446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QR送信直後。受付メールを自動送信。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85800" y="2775857"/>
            <a:ext cx="160477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未対応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2290572" y="2775857"/>
            <a:ext cx="374446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スタッフ通知に表示。3営業日以内に判断。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85800" y="3500846"/>
            <a:ext cx="160477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作成可能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2290572" y="3500846"/>
            <a:ext cx="374446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スタッフが在庫確認後にボタン送信。7日URLを発行。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85800" y="4225834"/>
            <a:ext cx="160477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再案内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2290572" y="4225834"/>
            <a:ext cx="374446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作成可能メールから3日後に自動送信。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85800" y="4950823"/>
            <a:ext cx="160477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期限切れ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2290572" y="4950823"/>
            <a:ext cx="374446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作成可能メールから7日後にURL無効化。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85800" y="5675811"/>
            <a:ext cx="160477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作成不可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2290572" y="5675811"/>
            <a:ext cx="374446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スタッフ判断、または3営業日超過で自動送信。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355080" y="1325880"/>
            <a:ext cx="1756562" cy="724989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後続状態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8111642" y="1325880"/>
            <a:ext cx="3409798" cy="724989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Noto Sans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内容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355080" y="2050869"/>
            <a:ext cx="175656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発送先入力待ち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8111642" y="2050869"/>
            <a:ext cx="340979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作成可能メール内URLから入力。7日で無効。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355080" y="2775857"/>
            <a:ext cx="175656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発送準備中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8111642" y="2775857"/>
            <a:ext cx="340979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住所・電話・決済方法入力完了で自動遷移。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355080" y="3500846"/>
            <a:ext cx="175656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発送完了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8111642" y="3500846"/>
            <a:ext cx="340979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スタッフが発送完了ボタン。成果Bに計上。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6355080" y="4225834"/>
            <a:ext cx="175656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作成不可後2週間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8111642" y="4225834"/>
            <a:ext cx="340979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目途が立てば再案内。なければ終了扱い。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6355080" y="4950823"/>
            <a:ext cx="1756562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半年無発送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111642" y="4950823"/>
            <a:ext cx="3409798" cy="724989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最終発送から半年でQR商品ページを無効化。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6355080" y="5675811"/>
            <a:ext cx="1756562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無効QRアクセス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8111642" y="5675811"/>
            <a:ext cx="3409798" cy="724989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アクセス数を記録し、しきい値超過で管理者通知。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3営業日超過の扱い：店舗体制の異常として記録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スタッフが複数人いる前提で、3営業日未対応は個別再割当ではなく運用指標にする。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6" name="Google Shape;466;p15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5"/>
          <p:cNvCxnSpPr/>
          <p:nvPr/>
        </p:nvCxnSpPr>
        <p:spPr>
          <a:xfrm>
            <a:off x="914400" y="233172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8" name="Google Shape;468;p15"/>
          <p:cNvCxnSpPr/>
          <p:nvPr/>
        </p:nvCxnSpPr>
        <p:spPr>
          <a:xfrm>
            <a:off x="3246120" y="233172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9" name="Google Shape;469;p15"/>
          <p:cNvCxnSpPr/>
          <p:nvPr/>
        </p:nvCxnSpPr>
        <p:spPr>
          <a:xfrm>
            <a:off x="5577840" y="233172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0" name="Google Shape;470;p15"/>
          <p:cNvCxnSpPr/>
          <p:nvPr/>
        </p:nvCxnSpPr>
        <p:spPr>
          <a:xfrm>
            <a:off x="7909560" y="233172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1" name="Google Shape;471;p15"/>
          <p:cNvSpPr/>
          <p:nvPr/>
        </p:nvSpPr>
        <p:spPr>
          <a:xfrm>
            <a:off x="502920" y="1965960"/>
            <a:ext cx="1371600" cy="73152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QR依頼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2148840" y="1965960"/>
            <a:ext cx="1371600" cy="73152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通知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3794760" y="1965960"/>
            <a:ext cx="1371600" cy="731520"/>
          </a:xfrm>
          <a:prstGeom prst="rect">
            <a:avLst/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3営業日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未対応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5440680" y="1965960"/>
            <a:ext cx="1371600" cy="731520"/>
          </a:xfrm>
          <a:prstGeom prst="rect">
            <a:avLst/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自動で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作成不可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7086600" y="1965960"/>
            <a:ext cx="1371600" cy="73152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依頼者へ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メール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8732520" y="1965960"/>
            <a:ext cx="1600200" cy="731520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管理者に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未対応件数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22960" y="3794760"/>
            <a:ext cx="32004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932688" y="390448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依頼者向け文面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932688" y="4297680"/>
            <a:ext cx="298094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スタッフ未対応とは言わない。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「原材料確保が困難なため、今回は作成を承ることができませんでした。」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434840" y="3794760"/>
            <a:ext cx="32004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4544568" y="390448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管理者向けデータ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4544568" y="4297680"/>
            <a:ext cx="298094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期限超過未対応件数 / 店舗別件数 / 対象商品 / 受付日時 / 期限超過日時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8046720" y="3794760"/>
            <a:ext cx="32004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156448" y="390448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意味づけ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8156448" y="4297680"/>
            <a:ext cx="298094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これは個別救済ではなく、スタッフ体制・通知運用の問題を発見する材料。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通知設計：見ただけでは消さない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通知は入口をまとめ、対応完了ステータスで消す。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7" name="Google Shape;497;p16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16"/>
          <p:cNvSpPr/>
          <p:nvPr/>
        </p:nvSpPr>
        <p:spPr>
          <a:xfrm>
            <a:off x="731520" y="1417320"/>
            <a:ext cx="5074920" cy="4389120"/>
          </a:xfrm>
          <a:prstGeom prst="roundRect">
            <a:avLst>
              <a:gd fmla="val 16667" name="adj"/>
            </a:avLst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841248" y="1527048"/>
            <a:ext cx="4855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スタッフ通知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841248" y="1920240"/>
            <a:ext cx="4855464" cy="3785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表示：通知 ● 5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対象：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・予約枠に予約が入った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・QR作成依頼が入った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・管理者から対応割当がある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消える条件：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・予約詳細を確認し、事前メモ保存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・QR依頼は作成可能/不可を判断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・対応完了ステータスになった時のみ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6355080" y="1417320"/>
            <a:ext cx="5074920" cy="4389120"/>
          </a:xfrm>
          <a:prstGeom prst="roundRect">
            <a:avLst>
              <a:gd fmla="val 16667" name="adj"/>
            </a:avLst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6464808" y="1527048"/>
            <a:ext cx="4855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管理者通知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6464808" y="1920240"/>
            <a:ext cx="4855464" cy="3785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表示：QR関連通知 ● 10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対象：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・期限超過未対応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・受付終了QRのアクセス急増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・再案内が必要なもの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・通常表示ではなく「見るべきものだけ」表示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Noto Sans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消える条件：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・対応完了 / 今回は対応しない / 再有効化など、明確なステータス変更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管理者設定：ハードコードしない値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運用で変わる値は、すべて管理画面から変更できるようにする。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15" name="Google Shape;515;p17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7"/>
          <p:cNvSpPr/>
          <p:nvPr/>
        </p:nvSpPr>
        <p:spPr>
          <a:xfrm>
            <a:off x="685800" y="1353312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795528" y="1463040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価格設定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795528" y="1856232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10ml：1,000円（税込）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30ml：2,860円（税込）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1円単位で変更可能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434840" y="1353312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4544568" y="1463040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依頼上限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4544568" y="1856232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最大依頼容量：100ml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QRページに「最大で合計○○mlまで」と表示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8183880" y="1353312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8293608" y="1463040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期限設定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8293608" y="1856232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作成可否確認：3営業日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発送先URL：7日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作成不可後の再案内窓：2週間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685800" y="2971800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795528" y="30815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店舗情報設定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795528" y="3474720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店舗名 / 電話番号 / 営業時間 / 定休日 / 店舗LP URL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各画面・メールで共通参照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4434840" y="2971800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4544568" y="30815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アクセス通知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4544568" y="3474720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受付終了QRの直近7日アクセスが○○件以上で管理者通知。しきい値は変更可能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8183880" y="2971800"/>
            <a:ext cx="3383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2E8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8293608" y="30815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配送/決済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8293608" y="3474720"/>
            <a:ext cx="3163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初期：着払いのみ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送料・手数料は別途案内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0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カード決済は将来の外部連携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設定テーブルは「運用で変わる数値」と「ロジック本体」を分けるための安全装置。変更のたびにコードを触らない。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QR商品のライフサイクル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古いQRが残っても、ページ状態とアクセス記録で安全に扱う。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46" name="Google Shape;546;p18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18"/>
          <p:cNvCxnSpPr/>
          <p:nvPr/>
        </p:nvCxnSpPr>
        <p:spPr>
          <a:xfrm>
            <a:off x="868680" y="2331720"/>
            <a:ext cx="1188720" cy="0"/>
          </a:xfrm>
          <a:prstGeom prst="straightConnector1">
            <a:avLst/>
          </a:prstGeom>
          <a:noFill/>
          <a:ln cap="flat" cmpd="sng" w="139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8" name="Google Shape;548;p18"/>
          <p:cNvCxnSpPr/>
          <p:nvPr/>
        </p:nvCxnSpPr>
        <p:spPr>
          <a:xfrm>
            <a:off x="3063240" y="2331720"/>
            <a:ext cx="1188720" cy="0"/>
          </a:xfrm>
          <a:prstGeom prst="straightConnector1">
            <a:avLst/>
          </a:prstGeom>
          <a:noFill/>
          <a:ln cap="flat" cmpd="sng" w="139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9" name="Google Shape;549;p18"/>
          <p:cNvCxnSpPr/>
          <p:nvPr/>
        </p:nvCxnSpPr>
        <p:spPr>
          <a:xfrm>
            <a:off x="5257800" y="2331720"/>
            <a:ext cx="1188720" cy="0"/>
          </a:xfrm>
          <a:prstGeom prst="straightConnector1">
            <a:avLst/>
          </a:prstGeom>
          <a:noFill/>
          <a:ln cap="flat" cmpd="sng" w="139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0" name="Google Shape;550;p18"/>
          <p:cNvCxnSpPr/>
          <p:nvPr/>
        </p:nvCxnSpPr>
        <p:spPr>
          <a:xfrm>
            <a:off x="7452360" y="2331720"/>
            <a:ext cx="1188720" cy="0"/>
          </a:xfrm>
          <a:prstGeom prst="straightConnector1">
            <a:avLst/>
          </a:prstGeom>
          <a:noFill/>
          <a:ln cap="flat" cmpd="sng" w="139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18"/>
          <p:cNvCxnSpPr/>
          <p:nvPr/>
        </p:nvCxnSpPr>
        <p:spPr>
          <a:xfrm>
            <a:off x="9646920" y="2331720"/>
            <a:ext cx="1005840" cy="0"/>
          </a:xfrm>
          <a:prstGeom prst="straightConnector1">
            <a:avLst/>
          </a:prstGeom>
          <a:noFill/>
          <a:ln cap="flat" cmpd="sng" w="13950">
            <a:solidFill>
              <a:srgbClr val="7567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2" name="Google Shape;552;p18"/>
          <p:cNvSpPr/>
          <p:nvPr/>
        </p:nvSpPr>
        <p:spPr>
          <a:xfrm>
            <a:off x="411480" y="1965960"/>
            <a:ext cx="1371600" cy="73152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QR発行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2057400" y="1965960"/>
            <a:ext cx="1371600" cy="73152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受付中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3703320" y="1965960"/>
            <a:ext cx="1371600" cy="73152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依頼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発送完了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5349240" y="1965960"/>
            <a:ext cx="1371600" cy="73152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半年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無発送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6995160" y="1965960"/>
            <a:ext cx="1371600" cy="731520"/>
          </a:xfrm>
          <a:prstGeom prst="rect">
            <a:avLst/>
          </a:prstGeom>
          <a:solidFill>
            <a:srgbClr val="FFE1DE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受付終了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8641080" y="1965960"/>
            <a:ext cx="1371600" cy="731520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アクセス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記録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10149840" y="1965960"/>
            <a:ext cx="1508760" cy="731520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管理者判断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再有効化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822960" y="374904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932688" y="385876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受付終了時の表示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932688" y="425196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この香水は原材料の都合により受付を終了しました。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現在受付中の商品やワークショップは店舗ページへ。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4526280" y="374904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4636008" y="385876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アクセス急増の検知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4636008" y="425196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受付終了後もQRアクセスは記録。直近7日でしきい値を超えたら通知。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8183880" y="3749040"/>
            <a:ext cx="31089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8293608" y="385876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020"/>
              <a:buFont typeface="Noto Sans"/>
              <a:buNone/>
            </a:pPr>
            <a:r>
              <a:rPr b="1" i="0" lang="en-US" sz="10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再有効化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8293608" y="4251960"/>
            <a:ext cx="28895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自動復活ではなく、管理者が需要・原料・季節性を見て手動判断。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追加すべきDB：役割一覧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既存DBに上から被せるのではなく、完成品・QR・依頼・通知を分ける。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79" name="Google Shape;579;p19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9"/>
          <p:cNvSpPr/>
          <p:nvPr/>
        </p:nvSpPr>
        <p:spPr>
          <a:xfrm>
            <a:off x="685800" y="1325880"/>
            <a:ext cx="1834286" cy="711926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テーブル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2520086" y="1325880"/>
            <a:ext cx="3560674" cy="711926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主な役割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685800" y="2037806"/>
            <a:ext cx="1834286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customers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2520086" y="2037806"/>
            <a:ext cx="3560674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会員。本人の制作履歴・再来店用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685800" y="2749731"/>
            <a:ext cx="1834286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customer_auth_links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2520086" y="2749731"/>
            <a:ext cx="3560674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メールアドレス・仮パス・初回登録の接続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685800" y="3461657"/>
            <a:ext cx="1834286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2520086" y="3461657"/>
            <a:ext cx="3560674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完成品。商品名・最終配合・QR状態・最終発送日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685800" y="4173583"/>
            <a:ext cx="1834286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lang="en-US" sz="720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product_</a:t>
            </a: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qr_codes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2520086" y="4173583"/>
            <a:ext cx="3560674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完成品に紐づくQR token。有効/無効を管理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685800" y="4885509"/>
            <a:ext cx="1834286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2520086" y="4885509"/>
            <a:ext cx="3560674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容量・数量・メール・ステータス・期限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685800" y="5597434"/>
            <a:ext cx="1834286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shipping_details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2520086" y="5597434"/>
            <a:ext cx="3560674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作成可能後にだけ取得する名前・住所・電話・決済方法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6355080" y="1325880"/>
            <a:ext cx="1756562" cy="711926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テーブル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8111642" y="1325880"/>
            <a:ext cx="3409798" cy="711926"/>
          </a:xfrm>
          <a:prstGeom prst="rect">
            <a:avLst/>
          </a:prstGeom>
          <a:solidFill>
            <a:srgbClr val="7567C9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主な役割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6355080" y="2037806"/>
            <a:ext cx="1756562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email_logs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8111642" y="2037806"/>
            <a:ext cx="3409798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受付/可否/再案内/期限切れメール履歴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6355080" y="2749731"/>
            <a:ext cx="1756562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notification_events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8111642" y="2749731"/>
            <a:ext cx="3409798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スタッフ/管理者通知。対応完了で消える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6355080" y="3461657"/>
            <a:ext cx="1756562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qr_access_logs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8111642" y="3461657"/>
            <a:ext cx="3409798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受付終了QRも含めたアクセス記録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355080" y="4173583"/>
            <a:ext cx="1756562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store_settings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8111642" y="4173583"/>
            <a:ext cx="3409798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店舗名・電話・営業時間・LP URL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6355080" y="4885509"/>
            <a:ext cx="1756562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product_request_settings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8111642" y="4885509"/>
            <a:ext cx="3409798" cy="71192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最大ml・3営業日・7日URL・通知しきい値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355080" y="5597434"/>
            <a:ext cx="1756562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consent_logs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8111642" y="5597434"/>
            <a:ext cx="3409798" cy="711926"/>
          </a:xfrm>
          <a:prstGeom prst="rect">
            <a:avLst/>
          </a:prstGeom>
          <a:solidFill>
            <a:srgbClr val="F6F2EA"/>
          </a:solidFill>
          <a:ln cap="flat" cmpd="sng" w="10150">
            <a:solidFill>
              <a:srgbClr val="D8D0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個人情報同意・第三者作成同意の保存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0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DB関係図：完成品を中心に接続する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会員、予約、ワークショップ、QR依頼を混ぜずに紐づける。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19" name="Google Shape;619;p20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0"/>
          <p:cNvCxnSpPr/>
          <p:nvPr/>
        </p:nvCxnSpPr>
        <p:spPr>
          <a:xfrm>
            <a:off x="1463040" y="182880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20"/>
          <p:cNvCxnSpPr/>
          <p:nvPr/>
        </p:nvCxnSpPr>
        <p:spPr>
          <a:xfrm>
            <a:off x="4023360" y="182880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20"/>
          <p:cNvCxnSpPr/>
          <p:nvPr/>
        </p:nvCxnSpPr>
        <p:spPr>
          <a:xfrm>
            <a:off x="6583680" y="1828800"/>
            <a:ext cx="128016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20"/>
          <p:cNvCxnSpPr/>
          <p:nvPr/>
        </p:nvCxnSpPr>
        <p:spPr>
          <a:xfrm>
            <a:off x="9144000" y="1828800"/>
            <a:ext cx="9144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20"/>
          <p:cNvCxnSpPr/>
          <p:nvPr/>
        </p:nvCxnSpPr>
        <p:spPr>
          <a:xfrm>
            <a:off x="5989320" y="2423160"/>
            <a:ext cx="0" cy="59436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p20"/>
          <p:cNvCxnSpPr/>
          <p:nvPr/>
        </p:nvCxnSpPr>
        <p:spPr>
          <a:xfrm>
            <a:off x="7498080" y="3520440"/>
            <a:ext cx="109728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6" name="Google Shape;626;p20"/>
          <p:cNvCxnSpPr/>
          <p:nvPr/>
        </p:nvCxnSpPr>
        <p:spPr>
          <a:xfrm>
            <a:off x="9875520" y="352044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7" name="Google Shape;627;p20"/>
          <p:cNvCxnSpPr/>
          <p:nvPr/>
        </p:nvCxnSpPr>
        <p:spPr>
          <a:xfrm>
            <a:off x="3429000" y="4343400"/>
            <a:ext cx="11430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8" name="Google Shape;628;p20"/>
          <p:cNvCxnSpPr/>
          <p:nvPr/>
        </p:nvCxnSpPr>
        <p:spPr>
          <a:xfrm>
            <a:off x="5760720" y="4343400"/>
            <a:ext cx="11430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9" name="Google Shape;629;p20"/>
          <p:cNvCxnSpPr/>
          <p:nvPr/>
        </p:nvCxnSpPr>
        <p:spPr>
          <a:xfrm>
            <a:off x="8138160" y="4343400"/>
            <a:ext cx="1143000" cy="0"/>
          </a:xfrm>
          <a:prstGeom prst="straightConnector1">
            <a:avLst/>
          </a:prstGeom>
          <a:noFill/>
          <a:ln cap="flat" cmpd="sng" w="13950">
            <a:solidFill>
              <a:srgbClr val="CDC5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0" name="Google Shape;630;p20"/>
          <p:cNvSpPr/>
          <p:nvPr/>
        </p:nvSpPr>
        <p:spPr>
          <a:xfrm>
            <a:off x="502920" y="1508760"/>
            <a:ext cx="1417320" cy="640080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customers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会員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2651760" y="1508760"/>
            <a:ext cx="1600200" cy="640080"/>
          </a:xfrm>
          <a:prstGeom prst="rect">
            <a:avLst/>
          </a:prstGeom>
          <a:solidFill>
            <a:srgbClr val="FFE9C9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reservations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予約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5166360" y="1508760"/>
            <a:ext cx="1600200" cy="64008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workshop_sessions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接客記録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7726680" y="1508760"/>
            <a:ext cx="1600200" cy="640080"/>
          </a:xfrm>
          <a:prstGeom prst="rect">
            <a:avLst/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30"/>
              <a:buFont typeface="Noto Sans"/>
              <a:buNone/>
            </a:pPr>
            <a:r>
              <a:rPr b="1" i="0" lang="en-US" sz="7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</a:t>
            </a:r>
            <a:endParaRPr b="0" i="0" sz="7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30"/>
              <a:buFont typeface="Noto Sans"/>
              <a:buNone/>
            </a:pPr>
            <a:r>
              <a:rPr b="1" i="0" lang="en-US" sz="73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完成品</a:t>
            </a:r>
            <a:endParaRPr b="0" i="0" sz="7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9966960" y="1508760"/>
            <a:ext cx="1508760" cy="640080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lang="en-US" sz="840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product_</a:t>
            </a: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qr_codes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39"/>
              <a:buFont typeface="Noto Sans"/>
              <a:buNone/>
            </a:pPr>
            <a:r>
              <a:rPr b="1" i="0" lang="en-US" sz="8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</a:t>
            </a:r>
            <a:endParaRPr b="0" i="0" sz="8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4937760" y="3063240"/>
            <a:ext cx="21031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consent_logs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個人情報/第三者作成同意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8183880" y="3246120"/>
            <a:ext cx="178308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依頼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10149840" y="3246120"/>
            <a:ext cx="123444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shipping_details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発送先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2377440" y="4069080"/>
            <a:ext cx="2057400" cy="566928"/>
          </a:xfrm>
          <a:prstGeom prst="rect">
            <a:avLst/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回答・5軸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4526280" y="4069080"/>
            <a:ext cx="150876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email_logs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メール履歴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6812280" y="4069080"/>
            <a:ext cx="160020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notification_events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1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通知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9189720" y="4069080"/>
            <a:ext cx="169164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qr_access_logs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40"/>
              <a:buFont typeface="Noto Sans"/>
              <a:buNone/>
            </a:pPr>
            <a:r>
              <a:rPr b="1" i="0" lang="en-US" sz="74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アクセス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777240" y="5349240"/>
            <a:ext cx="2057400" cy="566928"/>
          </a:xfrm>
          <a:prstGeom prst="rect">
            <a:avLst/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scoring_configs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配点設定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3337560" y="5349240"/>
            <a:ext cx="2057400" cy="566928"/>
          </a:xfrm>
          <a:prstGeom prst="rect">
            <a:avLst/>
          </a:prstGeom>
          <a:solidFill>
            <a:srgbClr val="FFE1F3"/>
          </a:solidFill>
          <a:ln cap="flat" cmpd="sng" w="10150">
            <a:solidFill>
              <a:srgbClr val="F48A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material_points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原料ポイント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5897880" y="5349240"/>
            <a:ext cx="205740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store_settings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店舗情報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8458200" y="5349240"/>
            <a:ext cx="224028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00"/>
              <a:buFont typeface="Noto Sans"/>
              <a:buNone/>
            </a:pPr>
            <a:r>
              <a:rPr b="1" i="0" lang="en-US" sz="7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product_request_settings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00"/>
              <a:buFont typeface="Noto Sans"/>
              <a:buNone/>
            </a:pPr>
            <a:r>
              <a:rPr b="1" i="0" lang="en-US" sz="7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QR設定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1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裏側の守り：認証・権限・データ保持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ここを曖昧にすると、後から修正が難しい。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57" name="Google Shape;657;p21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21"/>
          <p:cNvSpPr/>
          <p:nvPr/>
        </p:nvSpPr>
        <p:spPr>
          <a:xfrm>
            <a:off x="685800" y="1371600"/>
            <a:ext cx="338328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795528" y="14813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認証・権限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795528" y="1874520"/>
            <a:ext cx="3163824" cy="3922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・会員 / スタッフ / 管理者を分ける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・管理者ログイン後にスタッフ自動ログイン状態へ吸われない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・authenticated なら全操作可能、というRLSは本番前に見直す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・スタッフ成果と実務対応者を分ける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4434840" y="1371600"/>
            <a:ext cx="338328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4544568" y="14813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データ保持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4544568" y="1874520"/>
            <a:ext cx="3163824" cy="3922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・QR依頼者は会員DBに入れない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・発送先は作成可能後だけ取得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・最終発送から半年無発送でQR受付終了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・古いQRは削除ではなく無効化＋受付終了表示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・アクセス数は保持して再需要を検知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8183880" y="1371600"/>
            <a:ext cx="338328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8293608" y="1481328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状態管理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8293608" y="1874520"/>
            <a:ext cx="3163824" cy="3922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・通知は見ただけでは消さない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・メール送信は email_logs に残す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・3営業日超過は自動作成不可＋管理者集計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・発送完了を成果Bとする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・ステータスをDBの正にする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2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実装ロードマップ：どこから手を付けるか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基盤 → クライアント満足ライン → QR商品導線 → 運用改善の順に積む。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78" name="Google Shape;678;p22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9" name="Google Shape;679;p22"/>
          <p:cNvSpPr/>
          <p:nvPr/>
        </p:nvSpPr>
        <p:spPr>
          <a:xfrm>
            <a:off x="594360" y="1325880"/>
            <a:ext cx="2240280" cy="4572000"/>
          </a:xfrm>
          <a:prstGeom prst="roundRect">
            <a:avLst>
              <a:gd fmla="val 16667" name="adj"/>
            </a:avLst>
          </a:prstGeom>
          <a:solidFill>
            <a:srgbClr val="FFE1DE">
              <a:alpha val="7843"/>
            </a:srgbClr>
          </a:solidFill>
          <a:ln cap="flat" cmpd="sng" w="10150">
            <a:solidFill>
              <a:srgbClr val="D8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685800" y="1399032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3A30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D83A30"/>
                </a:solidFill>
                <a:latin typeface="Noto Sans"/>
                <a:ea typeface="Noto Sans"/>
                <a:cs typeface="Noto Sans"/>
                <a:sym typeface="Noto Sans"/>
              </a:rPr>
              <a:t>Phase 1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3A30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D83A30"/>
                </a:solidFill>
                <a:latin typeface="Noto Sans"/>
                <a:ea typeface="Noto Sans"/>
                <a:cs typeface="Noto Sans"/>
                <a:sym typeface="Noto Sans"/>
              </a:rPr>
              <a:t>基盤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2971800" y="1325880"/>
            <a:ext cx="2240280" cy="4572000"/>
          </a:xfrm>
          <a:prstGeom prst="roundRect">
            <a:avLst>
              <a:gd fmla="val 16667" name="adj"/>
            </a:avLst>
          </a:prstGeom>
          <a:solidFill>
            <a:srgbClr val="DCEBFF">
              <a:alpha val="7843"/>
            </a:srgbClr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2"/>
          <p:cNvSpPr/>
          <p:nvPr/>
        </p:nvSpPr>
        <p:spPr>
          <a:xfrm>
            <a:off x="3063240" y="1399032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94D9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5F94D9"/>
                </a:solidFill>
                <a:latin typeface="Noto Sans"/>
                <a:ea typeface="Noto Sans"/>
                <a:cs typeface="Noto Sans"/>
                <a:sym typeface="Noto Sans"/>
              </a:rPr>
              <a:t>Phase 2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94D9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5F94D9"/>
                </a:solidFill>
                <a:latin typeface="Noto Sans"/>
                <a:ea typeface="Noto Sans"/>
                <a:cs typeface="Noto Sans"/>
                <a:sym typeface="Noto Sans"/>
              </a:rPr>
              <a:t>満足ライン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5349240" y="1325880"/>
            <a:ext cx="2240280" cy="4572000"/>
          </a:xfrm>
          <a:prstGeom prst="roundRect">
            <a:avLst>
              <a:gd fmla="val 16667" name="adj"/>
            </a:avLst>
          </a:prstGeom>
          <a:solidFill>
            <a:srgbClr val="DFF3E8">
              <a:alpha val="7843"/>
            </a:srgbClr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5440680" y="1399032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A67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45A675"/>
                </a:solidFill>
                <a:latin typeface="Noto Sans"/>
                <a:ea typeface="Noto Sans"/>
                <a:cs typeface="Noto Sans"/>
                <a:sym typeface="Noto Sans"/>
              </a:rPr>
              <a:t>Phase 3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A675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45A675"/>
                </a:solidFill>
                <a:latin typeface="Noto Sans"/>
                <a:ea typeface="Noto Sans"/>
                <a:cs typeface="Noto Sans"/>
                <a:sym typeface="Noto Sans"/>
              </a:rPr>
              <a:t>商品化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7726680" y="1325880"/>
            <a:ext cx="2240280" cy="4572000"/>
          </a:xfrm>
          <a:prstGeom prst="roundRect">
            <a:avLst>
              <a:gd fmla="val 16667" name="adj"/>
            </a:avLst>
          </a:prstGeom>
          <a:solidFill>
            <a:srgbClr val="E9E5FF">
              <a:alpha val="7843"/>
            </a:srgbClr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7818120" y="1399032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7C9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7567C9"/>
                </a:solidFill>
                <a:latin typeface="Noto Sans"/>
                <a:ea typeface="Noto Sans"/>
                <a:cs typeface="Noto Sans"/>
                <a:sym typeface="Noto Sans"/>
              </a:rPr>
              <a:t>Phase 4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7C9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7567C9"/>
                </a:solidFill>
                <a:latin typeface="Noto Sans"/>
                <a:ea typeface="Noto Sans"/>
                <a:cs typeface="Noto Sans"/>
                <a:sym typeface="Noto Sans"/>
              </a:rPr>
              <a:t>QR依頼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10104120" y="1325880"/>
            <a:ext cx="1508760" cy="4572000"/>
          </a:xfrm>
          <a:prstGeom prst="roundRect">
            <a:avLst>
              <a:gd fmla="val 16667" name="adj"/>
            </a:avLst>
          </a:prstGeom>
          <a:solidFill>
            <a:srgbClr val="FFE9C9">
              <a:alpha val="7843"/>
            </a:srgbClr>
          </a:solidFill>
          <a:ln cap="flat" cmpd="sng" w="10150">
            <a:solidFill>
              <a:srgbClr val="F1A6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2"/>
          <p:cNvSpPr/>
          <p:nvPr/>
        </p:nvSpPr>
        <p:spPr>
          <a:xfrm>
            <a:off x="10195560" y="139903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A64E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F1A64E"/>
                </a:solidFill>
                <a:latin typeface="Noto Sans"/>
                <a:ea typeface="Noto Sans"/>
                <a:cs typeface="Noto Sans"/>
                <a:sym typeface="Noto Sans"/>
              </a:rPr>
              <a:t>Phase 5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A64E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F1A64E"/>
                </a:solidFill>
                <a:latin typeface="Noto Sans"/>
                <a:ea typeface="Noto Sans"/>
                <a:cs typeface="Noto Sans"/>
                <a:sym typeface="Noto Sans"/>
              </a:rPr>
              <a:t>運用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777240" y="1920240"/>
            <a:ext cx="1874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・会員DB接続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・認証/権限分離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・予約/回答/会員紐づけ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・スタッフ自動ログイン整理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3154680" y="1920240"/>
            <a:ext cx="1874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・アンケートロジック安定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・原料ポイント調整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・DB保存/復元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・スタッフ詳細連携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5532120" y="1920240"/>
            <a:ext cx="1874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・商品名入力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・個人情報同意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・第三者作成同意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・完成品DB/QR発行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7909560" y="1920240"/>
            <a:ext cx="1874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・QR商品ページ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・容量/数量/メール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・3営業日ルール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810"/>
              <a:buFont typeface="Noto Sans"/>
              <a:buNone/>
            </a:pPr>
            <a:r>
              <a:rPr b="0" i="0" lang="en-US" sz="81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・発送先/着払い/発送完了</a:t>
            </a:r>
            <a:endParaRPr b="0" i="0" sz="8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10268712" y="1920240"/>
            <a:ext cx="11430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・通知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・価格/最大ml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・店舗情報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・無効QRアクセス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868680" y="6080760"/>
            <a:ext cx="10424160" cy="384048"/>
          </a:xfrm>
          <a:prstGeom prst="rect">
            <a:avLst/>
          </a:prstGeom>
          <a:solidFill>
            <a:srgbClr val="1C3558"/>
          </a:solidFill>
          <a:ln cap="flat" cmpd="sng" w="1015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Noto Sans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優先順位の核心：QRを急いで作る前に、完成品・会員・権限・状態管理を固める。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 cap="flat" cmpd="sng" w="12700">
            <a:solidFill>
              <a:srgbClr val="FAF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3558"/>
          </a:solidFill>
          <a:ln cap="flat" cmpd="sng" w="12700">
            <a:solidFill>
              <a:srgbClr val="1C3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>
            <a:off x="502920" y="292608"/>
            <a:ext cx="10287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最終ゴール：扱いやすいUIと納得できるロジック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521208" y="75895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ワークショップだからこそ生まれる「無限の組み合わせ」と「欲しがる人との接点」を形にする。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11247120" y="283464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6E6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706E68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06" name="Google Shape;706;p23"/>
          <p:cNvCxnSpPr/>
          <p:nvPr/>
        </p:nvCxnSpPr>
        <p:spPr>
          <a:xfrm>
            <a:off x="502920" y="103327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3DD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23"/>
          <p:cNvSpPr/>
          <p:nvPr/>
        </p:nvSpPr>
        <p:spPr>
          <a:xfrm>
            <a:off x="777240" y="1417320"/>
            <a:ext cx="3337560" cy="4206240"/>
          </a:xfrm>
          <a:prstGeom prst="roundRect">
            <a:avLst>
              <a:gd fmla="val 16667" name="adj"/>
            </a:avLst>
          </a:prstGeom>
          <a:solidFill>
            <a:srgbClr val="DCEBFF"/>
          </a:solidFill>
          <a:ln cap="flat" cmpd="sng" w="10150">
            <a:solidFill>
              <a:srgbClr val="5F94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3"/>
          <p:cNvSpPr/>
          <p:nvPr/>
        </p:nvSpPr>
        <p:spPr>
          <a:xfrm>
            <a:off x="886968" y="1527048"/>
            <a:ext cx="31181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利用者にとって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886968" y="1920240"/>
            <a:ext cx="3118104" cy="3602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アンケートで自分の香りの方向性が見える。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来店してスタッフと一緒に香水を作れる。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気に入った香りは会員ページから振り返れる。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p23"/>
          <p:cNvSpPr/>
          <p:nvPr/>
        </p:nvSpPr>
        <p:spPr>
          <a:xfrm>
            <a:off x="4434840" y="1417320"/>
            <a:ext cx="3337560" cy="4206240"/>
          </a:xfrm>
          <a:prstGeom prst="roundRect">
            <a:avLst>
              <a:gd fmla="val 16667" name="adj"/>
            </a:avLst>
          </a:prstGeom>
          <a:solidFill>
            <a:srgbClr val="DFF3E8"/>
          </a:solidFill>
          <a:ln cap="flat" cmpd="sng" w="10150">
            <a:solidFill>
              <a:srgbClr val="45A6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4544568" y="1527048"/>
            <a:ext cx="31181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店舗にとって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4544568" y="1920240"/>
            <a:ext cx="3118104" cy="3602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ロジック・原料・価格・通知を運用で調整できる。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スタッフ成果と発送完了を見られる。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QRアクセスから再需要も拾える。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8092440" y="1417320"/>
            <a:ext cx="3337560" cy="4206240"/>
          </a:xfrm>
          <a:prstGeom prst="roundRect">
            <a:avLst>
              <a:gd fmla="val 16667" name="adj"/>
            </a:avLst>
          </a:prstGeom>
          <a:solidFill>
            <a:srgbClr val="E9E5FF"/>
          </a:solidFill>
          <a:ln cap="flat" cmpd="sng" w="10150">
            <a:solidFill>
              <a:srgbClr val="75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3"/>
          <p:cNvSpPr/>
          <p:nvPr/>
        </p:nvSpPr>
        <p:spPr>
          <a:xfrm>
            <a:off x="8202168" y="1527048"/>
            <a:ext cx="31181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第三者にとって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8202168" y="1920240"/>
            <a:ext cx="3118104" cy="3602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SNSで見た香水を、会員登録なしで気軽に作成依頼できる。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252525"/>
                </a:solidFill>
                <a:latin typeface="Noto Sans"/>
                <a:ea typeface="Noto Sans"/>
                <a:cs typeface="Noto Sans"/>
                <a:sym typeface="Noto Sans"/>
              </a:rPr>
              <a:t>「推しと同じ香り」「知人が作った香り」を自然に共有できる。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822960" y="5989320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8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1C3558"/>
                </a:solidFill>
                <a:latin typeface="Noto Sans"/>
                <a:ea typeface="Noto Sans"/>
                <a:cs typeface="Noto Sans"/>
                <a:sym typeface="Noto Sans"/>
              </a:rPr>
              <a:t>結論：まず裏側を強くする。その上でQR商品導線を乗せると、このサービスは単なる予約サイトではなく「香りが広がる仕組み」になる。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502920" y="6565392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078"/>
              </a:buClr>
              <a:buSzPts val="720"/>
              <a:buFont typeface="Noto Sans"/>
              <a:buNone/>
            </a:pPr>
            <a:r>
              <a:rPr b="0" i="0" lang="en-US" sz="720" u="none" cap="none" strike="noStrike">
                <a:solidFill>
                  <a:srgbClr val="878078"/>
                </a:solidFill>
                <a:latin typeface="Noto Sans"/>
                <a:ea typeface="Noto Sans"/>
                <a:cs typeface="Noto Sans"/>
                <a:sym typeface="Noto Sans"/>
              </a:rPr>
              <a:t>現状リポジトリ・対話内容をもとにした設計整理案</a:t>
            </a:r>
            <a:endParaRPr b="0" i="0" sz="7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2026-04-26T13:41:55Z</dcterms:created>
  <dc:creator>OpenAI</dc:creator>
</cp:coreProperties>
</file>