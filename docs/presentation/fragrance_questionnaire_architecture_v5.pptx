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50" b="1" dirty="0">
                <a:solidFill>
                  <a:srgbClr val="1C3558"/>
                </a:solidFill>
              </a:rPr>
              <a:t>香りワークショップ予約・QR商品化システム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52525"/>
                </a:solidFill>
              </a:rPr>
              <a:t>現状整理と理想導線設計 v5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706E68"/>
                </a:solidFill>
              </a:rPr>
              <a:t>アンケート・ロジック・DBを安定させ、その上でワークショップ完成品をQR商品として広げる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914400" y="3794760"/>
            <a:ext cx="1901952" cy="0"/>
          </a:xfrm>
          <a:prstGeom prst="line">
            <a:avLst/>
          </a:prstGeom>
          <a:noFill/>
          <a:ln w="19050">
            <a:solidFill>
              <a:srgbClr val="5F94D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639312" y="3794760"/>
            <a:ext cx="1901952" cy="0"/>
          </a:xfrm>
          <a:prstGeom prst="line">
            <a:avLst/>
          </a:prstGeom>
          <a:noFill/>
          <a:ln w="19050">
            <a:solidFill>
              <a:srgbClr val="45A67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364224" y="3794760"/>
            <a:ext cx="1901952" cy="0"/>
          </a:xfrm>
          <a:prstGeom prst="line">
            <a:avLst/>
          </a:prstGeom>
          <a:noFill/>
          <a:ln w="19050">
            <a:solidFill>
              <a:srgbClr val="7567C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089136" y="3794760"/>
            <a:ext cx="1883664" cy="0"/>
          </a:xfrm>
          <a:prstGeom prst="line">
            <a:avLst/>
          </a:prstGeom>
          <a:noFill/>
          <a:ln w="19050">
            <a:solidFill>
              <a:srgbClr val="F1A64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94360" y="3364992"/>
            <a:ext cx="1600200" cy="877824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安定した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アンケート基盤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2816352" y="3364992"/>
            <a:ext cx="1600200" cy="877824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ワークショップ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5047488" y="3364992"/>
            <a:ext cx="1600200" cy="877824"/>
          </a:xfrm>
          <a:prstGeom prst="rect">
            <a:avLst/>
          </a:prstGeom>
          <a:solidFill>
            <a:srgbClr val="FFE1F3"/>
          </a:solidFill>
          <a:ln w="10160">
            <a:solidFill>
              <a:srgbClr val="F48AC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再来店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269480" y="3364992"/>
            <a:ext cx="1600200" cy="877824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第三者依頼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491472" y="3364992"/>
            <a:ext cx="1600200" cy="877824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管理者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運用改善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685800" y="5943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C3558"/>
                </a:solidFill>
              </a:rPr>
              <a:t>本資料の目的：張りぼて化を避け、誰が見ても納得できる「一本筋の通った設計」に整理する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v5：現状課題・裏側DB・QRリスク・実装順序まで再整理</a:t>
            </a:r>
            <a:endParaRPr lang="en-US" sz="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このプロジェクトの一本筋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クライアント満足ラインと、こちらが届けたい追加価値を分けて設計する。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417320"/>
            <a:ext cx="3429000" cy="4343400"/>
          </a:xfrm>
          <a:prstGeom prst="roundRect">
            <a:avLst/>
          </a:prstGeom>
          <a:solidFill>
            <a:srgbClr val="DCEBFF"/>
          </a:solidFill>
          <a:ln w="10160">
            <a:solidFill>
              <a:srgbClr val="5F94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52704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252525"/>
                </a:solidFill>
              </a:rPr>
              <a:t>最低ライン：クライアントが満足する核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795528" y="1920240"/>
            <a:ext cx="3209544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アンケート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↓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スコアリングロジック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↓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香り5軸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↓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予約・スタッフ確認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↓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完成品</a:t>
            </a:r>
            <a:endParaRPr lang="en-US" sz="910" dirty="0"/>
          </a:p>
          <a:p>
            <a:pPr indent="0" marL="0">
              <a:buNone/>
            </a:pP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ロジックと原料ポイントを管理者が調整でき、DBに結果が残る状態。</a:t>
            </a:r>
            <a:endParaRPr lang="en-US" sz="910" dirty="0"/>
          </a:p>
        </p:txBody>
      </p:sp>
      <p:sp>
        <p:nvSpPr>
          <p:cNvPr id="11" name="Shape 9"/>
          <p:cNvSpPr/>
          <p:nvPr/>
        </p:nvSpPr>
        <p:spPr>
          <a:xfrm>
            <a:off x="4389120" y="1417320"/>
            <a:ext cx="3429000" cy="4343400"/>
          </a:xfrm>
          <a:prstGeom prst="roundRect">
            <a:avLst/>
          </a:prstGeom>
          <a:solidFill>
            <a:srgbClr val="E9E5FF"/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848" y="152704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252525"/>
                </a:solidFill>
              </a:rPr>
              <a:t>追加価値：ワークショップだからできる拡張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4498848" y="1920240"/>
            <a:ext cx="3209544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完成品に商品名を付ける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↓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QRを発行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↓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SNSや紹介で共有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↓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第三者が同じ香りを作成依頼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↓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原材料があれば届けられる</a:t>
            </a:r>
            <a:endParaRPr lang="en-US" sz="910" dirty="0"/>
          </a:p>
        </p:txBody>
      </p:sp>
      <p:sp>
        <p:nvSpPr>
          <p:cNvPr id="14" name="Shape 12"/>
          <p:cNvSpPr/>
          <p:nvPr/>
        </p:nvSpPr>
        <p:spPr>
          <a:xfrm>
            <a:off x="8092440" y="1417320"/>
            <a:ext cx="3429000" cy="4343400"/>
          </a:xfrm>
          <a:prstGeom prst="roundRect">
            <a:avLst/>
          </a:prstGeom>
          <a:solidFill>
            <a:srgbClr val="FFE1DE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52704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252525"/>
                </a:solidFill>
              </a:rPr>
              <a:t>今回の設計方針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02168" y="1920240"/>
            <a:ext cx="3209544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既存画面は活かす。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ただし、DB・認証・状態管理は整理し直す。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特にQRコードとDBの古い扱いは、後からアキレス腱になりやすい。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現状のサイトマップ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README上の現行構成。顧客・スタッフ・管理者の入口はあるが、会員/QR商品導線は未完成。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92024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07792" y="192024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00600" y="192024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93408" y="192024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41080" y="192024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97280" y="2331720"/>
            <a:ext cx="0" cy="146304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011680" y="406908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840480" y="406908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97280" y="2331720"/>
            <a:ext cx="0" cy="297180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40280" y="548640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69080" y="548640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897880" y="548640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94360" y="1207008"/>
            <a:ext cx="1005840" cy="228600"/>
          </a:xfrm>
          <a:prstGeom prst="rect">
            <a:avLst/>
          </a:prstGeom>
          <a:solidFill>
            <a:srgbClr val="FFFFFF"/>
          </a:solidFill>
          <a:ln w="7620">
            <a:solidFill>
              <a:srgbClr val="5F94D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5F94D9"/>
                </a:solidFill>
              </a:rPr>
              <a:t>顧客向け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502920" y="1627632"/>
            <a:ext cx="1143000" cy="56692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index.html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828800" y="1627632"/>
            <a:ext cx="1325880" cy="56692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questionnaire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730752" y="1627632"/>
            <a:ext cx="1325880" cy="56692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step2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23560" y="1627632"/>
            <a:ext cx="1325880" cy="56692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graph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516368" y="1627632"/>
            <a:ext cx="1325880" cy="56692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reservation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400032" y="1627632"/>
            <a:ext cx="1645920" cy="56692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complete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965960" y="3401568"/>
            <a:ext cx="914400" cy="228600"/>
          </a:xfrm>
          <a:prstGeom prst="rect">
            <a:avLst/>
          </a:prstGeom>
          <a:solidFill>
            <a:srgbClr val="FFFFFF"/>
          </a:solidFill>
          <a:ln w="7620">
            <a:solidFill>
              <a:srgbClr val="45A675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5A675"/>
                </a:solidFill>
              </a:rPr>
              <a:t>スタッフ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1828800" y="3813048"/>
            <a:ext cx="1371600" cy="566928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0" y="3813048"/>
            <a:ext cx="1371600" cy="566928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reservations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40680" y="3813048"/>
            <a:ext cx="1783080" cy="566928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customer-detail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726680" y="3813048"/>
            <a:ext cx="1417320" cy="566928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slots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194560" y="4846320"/>
            <a:ext cx="914400" cy="228600"/>
          </a:xfrm>
          <a:prstGeom prst="rect">
            <a:avLst/>
          </a:prstGeom>
          <a:solidFill>
            <a:srgbClr val="FFFFFF"/>
          </a:solidFill>
          <a:ln w="7620">
            <a:solidFill>
              <a:srgbClr val="7567C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7567C9"/>
                </a:solidFill>
              </a:rPr>
              <a:t>管理者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2057400" y="5230368"/>
            <a:ext cx="1417320" cy="566928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dashboard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886200" y="5230368"/>
            <a:ext cx="1417320" cy="566928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settings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715000" y="5230368"/>
            <a:ext cx="1417320" cy="566928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scoring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543800" y="5230368"/>
            <a:ext cx="1417320" cy="566928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materials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646920" y="4434840"/>
            <a:ext cx="1965960" cy="1298448"/>
          </a:xfrm>
          <a:prstGeom prst="roundRect">
            <a:avLst/>
          </a:prstGeom>
          <a:solidFill>
            <a:srgbClr val="FFE1DE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56648" y="454456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52525"/>
                </a:solidFill>
              </a:rPr>
              <a:t>未完成の要所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756648" y="4937760"/>
            <a:ext cx="17465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252525"/>
                </a:solidFill>
              </a:rPr>
              <a:t>product-reservation.html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52525"/>
                </a:solidFill>
              </a:rPr>
              <a:t>会員DB接続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52525"/>
                </a:solidFill>
              </a:rPr>
              <a:t>QR商品導線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参照：README上の現行サイトマップ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現状のDB・ロジック構成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既にある骨格は活かす。ただし会員・完成品商品化・QR依頼・通知は別途足す必要がある。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2057400"/>
            <a:ext cx="13716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114800" y="2057400"/>
            <a:ext cx="13716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75120" y="2057400"/>
            <a:ext cx="13716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235440" y="2057400"/>
            <a:ext cx="123444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48640" y="1719072"/>
            <a:ext cx="1417320" cy="658368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scoring_configs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配点ロジック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788920" y="1719072"/>
            <a:ext cx="1508760" cy="65836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questionnaire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STEP1/2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5349240" y="1719072"/>
            <a:ext cx="1508760" cy="65836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questionnaire_results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5軸・回答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909560" y="1719072"/>
            <a:ext cx="1508760" cy="658368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reservations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予約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49840" y="1719072"/>
            <a:ext cx="1508760" cy="658368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workshop_sessions</a:t>
            </a:r>
            <a:endParaRPr lang="en-US" sz="730" dirty="0"/>
          </a:p>
          <a:p>
            <a:pPr algn="ctr" indent="0" marL="0">
              <a:buNone/>
            </a:pPr>
            <a:r>
              <a:rPr lang="en-US" sz="7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最終配合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6080760" y="2578608"/>
            <a:ext cx="0" cy="576072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074920" y="3273552"/>
            <a:ext cx="2011680" cy="566928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reservation_slots</a:t>
            </a:r>
            <a:endParaRPr lang="en-US" sz="810" dirty="0"/>
          </a:p>
          <a:p>
            <a:pPr algn="ctr" indent="0" marL="0">
              <a:buNone/>
            </a:pPr>
            <a:r>
              <a:rPr lang="en-US" sz="81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予約枠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1280160" y="4526280"/>
            <a:ext cx="146304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94360" y="4160520"/>
            <a:ext cx="1600200" cy="658368"/>
          </a:xfrm>
          <a:prstGeom prst="rect">
            <a:avLst/>
          </a:prstGeom>
          <a:solidFill>
            <a:srgbClr val="FFE1F3"/>
          </a:solidFill>
          <a:ln w="10160">
            <a:solidFill>
              <a:srgbClr val="F48AC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material_points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原料ポイント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743200" y="4160520"/>
            <a:ext cx="1645920" cy="658368"/>
          </a:xfrm>
          <a:prstGeom prst="rect">
            <a:avLst/>
          </a:prstGeom>
          <a:solidFill>
            <a:srgbClr val="FFE1F3"/>
          </a:solidFill>
          <a:ln w="10160">
            <a:solidFill>
              <a:srgbClr val="F48AC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admin-materials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原料編集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5715000" y="4160520"/>
            <a:ext cx="1600200" cy="658368"/>
          </a:xfrm>
          <a:prstGeom prst="rect">
            <a:avLst/>
          </a:prstGeom>
          <a:solidFill>
            <a:srgbClr val="EFECE5"/>
          </a:solidFill>
          <a:ln w="10160">
            <a:solidFill>
              <a:srgbClr val="CDC5B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admin_settings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汎用設定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001000" y="4160520"/>
            <a:ext cx="1600200" cy="658368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admin-scoring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ロジック調整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0058400" y="4160520"/>
            <a:ext cx="1600200" cy="658368"/>
          </a:xfrm>
          <a:prstGeom prst="rect">
            <a:avLst/>
          </a:prstGeom>
          <a:solidFill>
            <a:srgbClr val="EFECE5"/>
          </a:solidFill>
          <a:ln w="10160">
            <a:solidFill>
              <a:srgbClr val="CDC5B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admin-login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共通ログイン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77240" y="5349240"/>
            <a:ext cx="3291840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" y="5458968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52525"/>
                </a:solidFill>
              </a:rPr>
              <a:t>活かすもの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6968" y="5852160"/>
            <a:ext cx="3072384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52525"/>
                </a:solidFill>
              </a:rPr>
              <a:t>アンケート→5軸→予約→スタッフ詳細→最終配合の骨格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4434840" y="5349240"/>
            <a:ext cx="3291840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4568" y="5458968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52525"/>
                </a:solidFill>
              </a:rPr>
              <a:t>整理するもの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44568" y="5852160"/>
            <a:ext cx="3072384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52525"/>
                </a:solidFill>
              </a:rPr>
              <a:t>会員・権限・完成品・QR・通知・メール・期限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8092440" y="5349240"/>
            <a:ext cx="3291840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C355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02168" y="5458968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52525"/>
                </a:solidFill>
              </a:rPr>
              <a:t>守ること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02168" y="5852160"/>
            <a:ext cx="3072384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52525"/>
                </a:solidFill>
              </a:rPr>
              <a:t>古いQR/DBの曖昧な紐づきを残さない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参照：schema.sql の現行テーブル構成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現状の課題点：ここを逃がすと後で絡まる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最初に挙げられた課題を、QR拡張より前の基盤課題として扱う。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25880"/>
            <a:ext cx="1909267" cy="830580"/>
          </a:xfrm>
          <a:prstGeom prst="rect">
            <a:avLst/>
          </a:prstGeom>
          <a:solidFill>
            <a:srgbClr val="D83A30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課題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2595067" y="1325880"/>
            <a:ext cx="3394253" cy="830580"/>
          </a:xfrm>
          <a:prstGeom prst="rect">
            <a:avLst/>
          </a:prstGeom>
          <a:solidFill>
            <a:srgbClr val="D83A30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設計上の意味</a:t>
            </a:r>
            <a:endParaRPr lang="en-US" sz="780" dirty="0"/>
          </a:p>
        </p:txBody>
      </p:sp>
      <p:sp>
        <p:nvSpPr>
          <p:cNvPr id="10" name="Text 8"/>
          <p:cNvSpPr/>
          <p:nvPr/>
        </p:nvSpPr>
        <p:spPr>
          <a:xfrm>
            <a:off x="685800" y="2156460"/>
            <a:ext cx="1909267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会員DB接続が未実装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2595067" y="2156460"/>
            <a:ext cx="3394253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本人の制作履歴・再来店・初回アンケート紐づけが弱い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685800" y="2987040"/>
            <a:ext cx="1909267" cy="83058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再予約時の差分表示がない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595067" y="2987040"/>
            <a:ext cx="3394253" cy="83058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前回完成品 vs 今回アンケートの比較価値が出せない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685800" y="3817620"/>
            <a:ext cx="1909267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商品予約ページが未作成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2595067" y="3817620"/>
            <a:ext cx="3394253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QR商品依頼の入口が実装されていない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685800" y="4648200"/>
            <a:ext cx="1909267" cy="83058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QR価格設定がない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2595067" y="4648200"/>
            <a:ext cx="3394253" cy="83058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管理者が10ml/30ml価格を変えられない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685800" y="5478780"/>
            <a:ext cx="1909267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管理者/スタッフログイン混在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2595067" y="5478780"/>
            <a:ext cx="3394253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権限分離が弱く、運用時に事故りやすい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6217920" y="1325880"/>
            <a:ext cx="1909267" cy="830580"/>
          </a:xfrm>
          <a:prstGeom prst="rect">
            <a:avLst/>
          </a:prstGeom>
          <a:solidFill>
            <a:srgbClr val="D83A30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追加で見えた課題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8127187" y="1325880"/>
            <a:ext cx="3394253" cy="830580"/>
          </a:xfrm>
          <a:prstGeom prst="rect">
            <a:avLst/>
          </a:prstGeom>
          <a:solidFill>
            <a:srgbClr val="D83A30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設計上の意味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6217920" y="2156460"/>
            <a:ext cx="1909267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商品名入力がない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8127187" y="2156460"/>
            <a:ext cx="3394253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QRページに出す表示名が作れない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6217920" y="2987040"/>
            <a:ext cx="1909267" cy="83058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個人情報同意がリンクだけ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8127187" y="2987040"/>
            <a:ext cx="3394253" cy="83058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保存・連絡利用の同意状態をDBに残せない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6217920" y="3817620"/>
            <a:ext cx="1909267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第三者作成同意がない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8127187" y="3817620"/>
            <a:ext cx="3394253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完成品をQR経由で依頼可能にする根拠がない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6217920" y="4648200"/>
            <a:ext cx="1909267" cy="83058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QR依頼/通知/期限DBがない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8127187" y="4648200"/>
            <a:ext cx="3394253" cy="83058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3営業日・7日期限・半年無効化を管理できない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6217920" y="5478780"/>
            <a:ext cx="1909267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古いQR扱いが未整理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8127187" y="5478780"/>
            <a:ext cx="3394253" cy="8305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残存QRが後からリスク・混乱・負債になりうる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設計原則：張りぼてにしないための分離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誰のデータか、どの商品か、どの状態かをDBで明確にする。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63040"/>
            <a:ext cx="2148840" cy="502920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会員とQRを分ける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21488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52525"/>
                </a:solidFill>
              </a:rPr>
              <a:t>会員DBは本人の履歴・再来店用。QR依頼者は会員化しない。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3611880" y="1463040"/>
            <a:ext cx="2148840" cy="50292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完成品を中心にする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2148840"/>
            <a:ext cx="21488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52525"/>
                </a:solidFill>
              </a:rPr>
              <a:t>QRは「会員」ではなく、ワークショップで完成した香水に紐づく。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6537960" y="1463040"/>
            <a:ext cx="2148840" cy="50292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状態で動かす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37960" y="2148840"/>
            <a:ext cx="21488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52525"/>
                </a:solidFill>
              </a:rPr>
              <a:t>通知・メール・期限切れ・発送完了はステータス遷移で管理する。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9464040" y="1463040"/>
            <a:ext cx="2148840" cy="502920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設定値を外出しする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464040" y="2148840"/>
            <a:ext cx="21488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52525"/>
                </a:solidFill>
              </a:rPr>
              <a:t>価格、最大ml、期限、店舗情報、通知しきい値は管理画面で変更。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10789920" cy="0"/>
          </a:xfrm>
          <a:prstGeom prst="line">
            <a:avLst/>
          </a:prstGeom>
          <a:noFill/>
          <a:ln w="12700">
            <a:solidFill>
              <a:srgbClr val="DED8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251960"/>
            <a:ext cx="3154680" cy="914400"/>
          </a:xfrm>
          <a:prstGeom prst="roundRect">
            <a:avLst/>
          </a:prstGeom>
          <a:solidFill>
            <a:srgbClr val="FFE1DE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36168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52525"/>
                </a:solidFill>
              </a:rPr>
              <a:t>危険な作り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24128" y="475488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画面の都合で sessionStorage / 古いQR / 手動メモをつなぎ足す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4526280" y="4251960"/>
            <a:ext cx="3154680" cy="914400"/>
          </a:xfrm>
          <a:prstGeom prst="roundRect">
            <a:avLst/>
          </a:prstGeom>
          <a:solidFill>
            <a:srgbClr val="DFF3E8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6008" y="436168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52525"/>
                </a:solidFill>
              </a:rPr>
              <a:t>正しい作り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6008" y="475488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DBに主キー・状態・期限・担当者・履歴を持たせる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8138160" y="4251960"/>
            <a:ext cx="315468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C3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47888" y="436168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52525"/>
                </a:solidFill>
              </a:rPr>
              <a:t>PPTXで見せるべきこと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47888" y="475488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既存を活かす部分と、作り直す裏側を分けて納得させる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クライアント満足ライン：アンケート・ロジック・DB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ここをまず強くすると、提案の土台が安定する。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743200"/>
            <a:ext cx="1234440" cy="0"/>
          </a:xfrm>
          <a:prstGeom prst="line">
            <a:avLst/>
          </a:prstGeom>
          <a:noFill/>
          <a:ln w="17780">
            <a:solidFill>
              <a:srgbClr val="5F94D9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37560" y="2743200"/>
            <a:ext cx="1234440" cy="0"/>
          </a:xfrm>
          <a:prstGeom prst="line">
            <a:avLst/>
          </a:prstGeom>
          <a:noFill/>
          <a:ln w="17780">
            <a:solidFill>
              <a:srgbClr val="5F94D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69280" y="2743200"/>
            <a:ext cx="1234440" cy="0"/>
          </a:xfrm>
          <a:prstGeom prst="line">
            <a:avLst/>
          </a:prstGeom>
          <a:noFill/>
          <a:ln w="17780">
            <a:solidFill>
              <a:srgbClr val="5F94D9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01000" y="2743200"/>
            <a:ext cx="1234440" cy="0"/>
          </a:xfrm>
          <a:prstGeom prst="line">
            <a:avLst/>
          </a:prstGeom>
          <a:noFill/>
          <a:ln w="17780">
            <a:solidFill>
              <a:srgbClr val="5F94D9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94360" y="2331720"/>
            <a:ext cx="1371600" cy="822960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アンケート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回答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31720" y="2331720"/>
            <a:ext cx="1371600" cy="82296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配点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ロジック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069080" y="2331720"/>
            <a:ext cx="1371600" cy="822960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香り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06440" y="2331720"/>
            <a:ext cx="1371600" cy="822960"/>
          </a:xfrm>
          <a:prstGeom prst="rect">
            <a:avLst/>
          </a:prstGeom>
          <a:solidFill>
            <a:srgbClr val="DFF3F2"/>
          </a:solidFill>
          <a:ln w="10160">
            <a:solidFill>
              <a:srgbClr val="2E8C8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グラフ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調整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43800" y="2331720"/>
            <a:ext cx="1371600" cy="822960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予約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保存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281160" y="2331720"/>
            <a:ext cx="1554480" cy="82296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スタッフ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確認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931920"/>
            <a:ext cx="3291840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4041648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52525"/>
                </a:solidFill>
              </a:rPr>
              <a:t>ロジック調整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886968" y="4434840"/>
            <a:ext cx="3072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管理者が配点テンプレート・分岐・仕上がりテンプレートを変更できる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4434840" y="3931920"/>
            <a:ext cx="3291840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48A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44568" y="4041648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52525"/>
                </a:solidFill>
              </a:rPr>
              <a:t>原料ポイント調整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4544568" y="4434840"/>
            <a:ext cx="3072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原材料ごとの香りポイントを編集し、将来の提案ロジックに使える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8092440" y="3931920"/>
            <a:ext cx="3291840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02168" y="4041648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52525"/>
                </a:solidFill>
              </a:rPr>
              <a:t>DB保存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8202168" y="4434840"/>
            <a:ext cx="3072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回答・5軸・予約・最終配合を分断せず追えるようにする</a:t>
            </a:r>
            <a:endParaRPr lang="en-US" sz="870" dirty="0"/>
          </a:p>
        </p:txBody>
      </p:sp>
      <p:sp>
        <p:nvSpPr>
          <p:cNvPr id="27" name="Text 25"/>
          <p:cNvSpPr/>
          <p:nvPr/>
        </p:nvSpPr>
        <p:spPr>
          <a:xfrm>
            <a:off x="960120" y="5852160"/>
            <a:ext cx="10287000" cy="384048"/>
          </a:xfrm>
          <a:prstGeom prst="rect">
            <a:avLst/>
          </a:prstGeom>
          <a:solidFill>
            <a:srgbClr val="1C3558"/>
          </a:solidFill>
          <a:ln w="10160">
            <a:solidFill>
              <a:srgbClr val="1C355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この土台が固まると、QR商品導線は「後付けの飾り」ではなく「完成品の自然な出口」になる。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既存を活かす部分 / 作り直すべき部分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旧Codex由来の画面を否定せず、土台が弱い箇所を選んで直す。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17320"/>
            <a:ext cx="2093062" cy="905256"/>
          </a:xfrm>
          <a:prstGeom prst="rect">
            <a:avLst/>
          </a:prstGeom>
          <a:solidFill>
            <a:srgbClr val="45A675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活かす部分</a:t>
            </a:r>
            <a:endParaRPr lang="en-US" sz="810" dirty="0"/>
          </a:p>
        </p:txBody>
      </p:sp>
      <p:sp>
        <p:nvSpPr>
          <p:cNvPr id="9" name="Text 7"/>
          <p:cNvSpPr/>
          <p:nvPr/>
        </p:nvSpPr>
        <p:spPr>
          <a:xfrm>
            <a:off x="2870302" y="1417320"/>
            <a:ext cx="2890418" cy="905256"/>
          </a:xfrm>
          <a:prstGeom prst="rect">
            <a:avLst/>
          </a:prstGeom>
          <a:solidFill>
            <a:srgbClr val="45A675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理由</a:t>
            </a:r>
            <a:endParaRPr lang="en-US" sz="810" dirty="0"/>
          </a:p>
        </p:txBody>
      </p:sp>
      <p:sp>
        <p:nvSpPr>
          <p:cNvPr id="10" name="Text 8"/>
          <p:cNvSpPr/>
          <p:nvPr/>
        </p:nvSpPr>
        <p:spPr>
          <a:xfrm>
            <a:off x="777240" y="2322576"/>
            <a:ext cx="2093062" cy="905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ページ単位のHTML構成</a:t>
            </a:r>
            <a:endParaRPr lang="en-US" sz="810" dirty="0"/>
          </a:p>
        </p:txBody>
      </p:sp>
      <p:sp>
        <p:nvSpPr>
          <p:cNvPr id="11" name="Text 9"/>
          <p:cNvSpPr/>
          <p:nvPr/>
        </p:nvSpPr>
        <p:spPr>
          <a:xfrm>
            <a:off x="2870302" y="2322576"/>
            <a:ext cx="2890418" cy="905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顧客・スタッフ・管理者の導線が見えている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777240" y="3227832"/>
            <a:ext cx="2093062" cy="90525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アンケートと5軸ロジック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2870302" y="3227832"/>
            <a:ext cx="2890418" cy="90525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クライアントが重視する中核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777240" y="4133088"/>
            <a:ext cx="2093062" cy="905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管理者の配点/原料編集画面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2870302" y="4133088"/>
            <a:ext cx="2890418" cy="905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調整可能な状態という価値に直結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777240" y="5038344"/>
            <a:ext cx="2093062" cy="90525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スタッフ詳細画面</a:t>
            </a:r>
            <a:endParaRPr lang="en-US" sz="810" dirty="0"/>
          </a:p>
        </p:txBody>
      </p:sp>
      <p:sp>
        <p:nvSpPr>
          <p:cNvPr id="17" name="Text 15"/>
          <p:cNvSpPr/>
          <p:nvPr/>
        </p:nvSpPr>
        <p:spPr>
          <a:xfrm>
            <a:off x="2870302" y="5038344"/>
            <a:ext cx="2890418" cy="90525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ワークショップ現場の入力場所として使える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6400800" y="1417320"/>
            <a:ext cx="2093062" cy="905256"/>
          </a:xfrm>
          <a:prstGeom prst="rect">
            <a:avLst/>
          </a:prstGeom>
          <a:solidFill>
            <a:srgbClr val="D83A30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整理/作り直す部分</a:t>
            </a:r>
            <a:endParaRPr lang="en-US" sz="810" dirty="0"/>
          </a:p>
        </p:txBody>
      </p:sp>
      <p:sp>
        <p:nvSpPr>
          <p:cNvPr id="19" name="Text 17"/>
          <p:cNvSpPr/>
          <p:nvPr/>
        </p:nvSpPr>
        <p:spPr>
          <a:xfrm>
            <a:off x="8493862" y="1417320"/>
            <a:ext cx="2890418" cy="905256"/>
          </a:xfrm>
          <a:prstGeom prst="rect">
            <a:avLst/>
          </a:prstGeom>
          <a:solidFill>
            <a:srgbClr val="D83A30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理由</a:t>
            </a:r>
            <a:endParaRPr lang="en-US" sz="810" dirty="0"/>
          </a:p>
        </p:txBody>
      </p:sp>
      <p:sp>
        <p:nvSpPr>
          <p:cNvPr id="20" name="Text 18"/>
          <p:cNvSpPr/>
          <p:nvPr/>
        </p:nvSpPr>
        <p:spPr>
          <a:xfrm>
            <a:off x="6400800" y="2322576"/>
            <a:ext cx="2093062" cy="905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会員DB・認証・権限</a:t>
            </a:r>
            <a:endParaRPr lang="en-US" sz="810" dirty="0"/>
          </a:p>
        </p:txBody>
      </p:sp>
      <p:sp>
        <p:nvSpPr>
          <p:cNvPr id="21" name="Text 19"/>
          <p:cNvSpPr/>
          <p:nvPr/>
        </p:nvSpPr>
        <p:spPr>
          <a:xfrm>
            <a:off x="8493862" y="2322576"/>
            <a:ext cx="2890418" cy="905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会員/スタッフ/管理者が混ざると事故る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6400800" y="3227832"/>
            <a:ext cx="2093062" cy="90525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完成品とQRのDB設計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8493862" y="3227832"/>
            <a:ext cx="2890418" cy="90525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古いQRが残るとアキレス腱になる</a:t>
            </a:r>
            <a:endParaRPr lang="en-US" sz="810" dirty="0"/>
          </a:p>
        </p:txBody>
      </p:sp>
      <p:sp>
        <p:nvSpPr>
          <p:cNvPr id="24" name="Text 22"/>
          <p:cNvSpPr/>
          <p:nvPr/>
        </p:nvSpPr>
        <p:spPr>
          <a:xfrm>
            <a:off x="6400800" y="4133088"/>
            <a:ext cx="2093062" cy="905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通知・ステータス・期限</a:t>
            </a:r>
            <a:endParaRPr lang="en-US" sz="810" dirty="0"/>
          </a:p>
        </p:txBody>
      </p:sp>
      <p:sp>
        <p:nvSpPr>
          <p:cNvPr id="25" name="Text 23"/>
          <p:cNvSpPr/>
          <p:nvPr/>
        </p:nvSpPr>
        <p:spPr>
          <a:xfrm>
            <a:off x="8493862" y="4133088"/>
            <a:ext cx="2890418" cy="905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画面確認ではなく状態遷移で動かす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6400800" y="5038344"/>
            <a:ext cx="2093062" cy="90525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QR依頼・発送・メールログ</a:t>
            </a:r>
            <a:endParaRPr lang="en-US" sz="810" dirty="0"/>
          </a:p>
        </p:txBody>
      </p:sp>
      <p:sp>
        <p:nvSpPr>
          <p:cNvPr id="27" name="Text 25"/>
          <p:cNvSpPr/>
          <p:nvPr/>
        </p:nvSpPr>
        <p:spPr>
          <a:xfrm>
            <a:off x="8493862" y="5038344"/>
            <a:ext cx="2890418" cy="90525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運用の証跡と自動処理に必要</a:t>
            </a:r>
            <a:endParaRPr lang="en-US" sz="810" dirty="0"/>
          </a:p>
        </p:txBody>
      </p:sp>
      <p:sp>
        <p:nvSpPr>
          <p:cNvPr id="28" name="Text 26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理想形の全体フロー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アンケートで方向性を作り、ワークショップで完成品にし、会員とQRに分岐する。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377440"/>
            <a:ext cx="109728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71800" y="2377440"/>
            <a:ext cx="109728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983480" y="2377440"/>
            <a:ext cx="109728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995160" y="2377440"/>
            <a:ext cx="109728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02920" y="2011680"/>
            <a:ext cx="1234440" cy="685800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初見客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20240" y="2011680"/>
            <a:ext cx="1234440" cy="685800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アンケート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37560" y="2011680"/>
            <a:ext cx="1234440" cy="685800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予約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0" y="2011680"/>
            <a:ext cx="1234440" cy="685800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来店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72200" y="2011680"/>
            <a:ext cx="1234440" cy="68580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35240" y="2011680"/>
            <a:ext cx="1417320" cy="68580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商品名/同意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183880" y="2743200"/>
            <a:ext cx="-1417320" cy="960120"/>
          </a:xfrm>
          <a:prstGeom prst="line">
            <a:avLst/>
          </a:prstGeom>
          <a:noFill/>
          <a:ln w="15240">
            <a:solidFill>
              <a:srgbClr val="F48AC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686800" y="2743200"/>
            <a:ext cx="960120" cy="960120"/>
          </a:xfrm>
          <a:prstGeom prst="line">
            <a:avLst/>
          </a:prstGeom>
          <a:noFill/>
          <a:ln w="15240">
            <a:solidFill>
              <a:srgbClr val="7567C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577840" y="3730752"/>
            <a:ext cx="1965960" cy="731520"/>
          </a:xfrm>
          <a:prstGeom prst="rect">
            <a:avLst/>
          </a:prstGeom>
          <a:solidFill>
            <a:srgbClr val="FFE1F3"/>
          </a:solidFill>
          <a:ln w="10160">
            <a:solidFill>
              <a:srgbClr val="F48AC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会員ページ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制作履歴・再予約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732520" y="3730752"/>
            <a:ext cx="1965960" cy="73152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QR商品ページ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第三者作成依頼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68680" y="5120640"/>
            <a:ext cx="315468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48A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8408" y="523036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52525"/>
                </a:solidFill>
              </a:rPr>
              <a:t>会員側の価値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978408" y="5623560"/>
            <a:ext cx="2935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252525"/>
                </a:solidFill>
              </a:rPr>
              <a:t>本人が過去の完成品を見て、再来店や再制作に使える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4526280" y="5120640"/>
            <a:ext cx="315468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523036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52525"/>
                </a:solidFill>
              </a:rPr>
              <a:t>店舗側の価値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4636008" y="5623560"/>
            <a:ext cx="2935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252525"/>
                </a:solidFill>
              </a:rPr>
              <a:t>スタッフ成果・完成品・QR依頼・発送完了を追える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8183880" y="5120640"/>
            <a:ext cx="315468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93608" y="523036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52525"/>
                </a:solidFill>
              </a:rPr>
              <a:t>第三者側の価値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8293608" y="5623560"/>
            <a:ext cx="2935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252525"/>
                </a:solidFill>
              </a:rPr>
              <a:t>会員登録なしで、紹介された同じ香りを依頼できる</a:t>
            </a:r>
            <a:endParaRPr lang="en-US" sz="830" dirty="0"/>
          </a:p>
        </p:txBody>
      </p:sp>
      <p:sp>
        <p:nvSpPr>
          <p:cNvPr id="31" name="Text 29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staff-customer-detail.html に追加すべき項目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ワークショップ中に完成品を商品化できる状態まで整える。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09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43200"/>
            <a:ext cx="1097280" cy="0"/>
          </a:xfrm>
          <a:prstGeom prst="line">
            <a:avLst/>
          </a:prstGeom>
          <a:noFill/>
          <a:ln w="13970">
            <a:solidFill>
              <a:srgbClr val="45A67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26080" y="2743200"/>
            <a:ext cx="1097280" cy="0"/>
          </a:xfrm>
          <a:prstGeom prst="line">
            <a:avLst/>
          </a:prstGeom>
          <a:noFill/>
          <a:ln w="13970">
            <a:solidFill>
              <a:srgbClr val="45A67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937760" y="2743200"/>
            <a:ext cx="1097280" cy="0"/>
          </a:xfrm>
          <a:prstGeom prst="line">
            <a:avLst/>
          </a:prstGeom>
          <a:noFill/>
          <a:ln w="13970">
            <a:solidFill>
              <a:srgbClr val="45A675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949440" y="2743200"/>
            <a:ext cx="1097280" cy="0"/>
          </a:xfrm>
          <a:prstGeom prst="line">
            <a:avLst/>
          </a:prstGeom>
          <a:noFill/>
          <a:ln w="13970">
            <a:solidFill>
              <a:srgbClr val="45A67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961120" y="2743200"/>
            <a:ext cx="1097280" cy="0"/>
          </a:xfrm>
          <a:prstGeom prst="line">
            <a:avLst/>
          </a:prstGeom>
          <a:noFill/>
          <a:ln w="13970">
            <a:solidFill>
              <a:srgbClr val="45A675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02920" y="2331720"/>
            <a:ext cx="1280160" cy="82296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ヒアリング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メモ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20240" y="2331720"/>
            <a:ext cx="1280160" cy="822960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商品名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入力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37560" y="2331720"/>
            <a:ext cx="1280160" cy="822960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個人情報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同意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54880" y="2331720"/>
            <a:ext cx="1280160" cy="82296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第三者作成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同意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72200" y="2331720"/>
            <a:ext cx="1280160" cy="82296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最終配合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登録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589520" y="2331720"/>
            <a:ext cx="1280160" cy="822960"/>
          </a:xfrm>
          <a:prstGeom prst="rect">
            <a:avLst/>
          </a:prstGeom>
          <a:solidFill>
            <a:srgbClr val="DFF3F2"/>
          </a:solidFill>
          <a:ln w="10160">
            <a:solidFill>
              <a:srgbClr val="2E8C8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最終5軸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確認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06840" y="2331720"/>
            <a:ext cx="1417320" cy="82296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発行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1495044" cy="400050"/>
          </a:xfrm>
          <a:prstGeom prst="rect">
            <a:avLst/>
          </a:prstGeom>
          <a:solidFill>
            <a:srgbClr val="45A675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QR発行条件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2272284" y="3886200"/>
            <a:ext cx="3488436" cy="400050"/>
          </a:xfrm>
          <a:prstGeom prst="rect">
            <a:avLst/>
          </a:prstGeom>
          <a:solidFill>
            <a:srgbClr val="45A675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内容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77240" y="4286250"/>
            <a:ext cx="1495044" cy="400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商品名</a:t>
            </a:r>
            <a:endParaRPr lang="en-US" sz="740" dirty="0"/>
          </a:p>
        </p:txBody>
      </p:sp>
      <p:sp>
        <p:nvSpPr>
          <p:cNvPr id="23" name="Text 21"/>
          <p:cNvSpPr/>
          <p:nvPr/>
        </p:nvSpPr>
        <p:spPr>
          <a:xfrm>
            <a:off x="2272284" y="4286250"/>
            <a:ext cx="3488436" cy="400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お客様が命名。迷う場合はスタッフが提案して一緒に決める</a:t>
            </a:r>
            <a:endParaRPr lang="en-US" sz="740" dirty="0"/>
          </a:p>
        </p:txBody>
      </p:sp>
      <p:sp>
        <p:nvSpPr>
          <p:cNvPr id="24" name="Text 22"/>
          <p:cNvSpPr/>
          <p:nvPr/>
        </p:nvSpPr>
        <p:spPr>
          <a:xfrm>
            <a:off x="777240" y="4686300"/>
            <a:ext cx="1495044" cy="40005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最終配合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2272284" y="4686300"/>
            <a:ext cx="3488436" cy="40005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原料3〜4種と割合。最終5軸に反映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777240" y="5086350"/>
            <a:ext cx="1495044" cy="400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同意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2272284" y="5086350"/>
            <a:ext cx="3488436" cy="400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個人情報保存・第三者作成依頼をスタッフ画面で一緒に確認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6400800" y="3886200"/>
            <a:ext cx="1893722" cy="400050"/>
          </a:xfrm>
          <a:prstGeom prst="rect">
            <a:avLst/>
          </a:prstGeom>
          <a:solidFill>
            <a:srgbClr val="7567C9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保存する同意ログ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8294522" y="3886200"/>
            <a:ext cx="3089758" cy="400050"/>
          </a:xfrm>
          <a:prstGeom prst="rect">
            <a:avLst/>
          </a:prstGeom>
          <a:solidFill>
            <a:srgbClr val="7567C9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初期粒度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6400800" y="4286250"/>
            <a:ext cx="1893722" cy="400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personal_info_consent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8294522" y="4286250"/>
            <a:ext cx="3089758" cy="400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true / false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6400800" y="4686300"/>
            <a:ext cx="1893722" cy="40005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third_party_order_consent</a:t>
            </a:r>
            <a:endParaRPr lang="en-US" sz="740" dirty="0"/>
          </a:p>
        </p:txBody>
      </p:sp>
      <p:sp>
        <p:nvSpPr>
          <p:cNvPr id="33" name="Text 31"/>
          <p:cNvSpPr/>
          <p:nvPr/>
        </p:nvSpPr>
        <p:spPr>
          <a:xfrm>
            <a:off x="8294522" y="4686300"/>
            <a:ext cx="3089758" cy="400050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true / false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400800" y="5086350"/>
            <a:ext cx="1893722" cy="400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consented_at / staff_id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8294522" y="5086350"/>
            <a:ext cx="3089758" cy="400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日時と確認スタッフ。文言versionは将来追加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現状：staff-customer-detail.html は回答・5軸比較・最終配合・QR表示の枠はあるが、商品名/第三者同意が不足。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会員導線：本人の制作履歴と再来店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QR商品導線とは別枠。会員は「本人の体験」を蓄積する場所。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325880"/>
            <a:ext cx="3200400" cy="4526280"/>
          </a:xfrm>
          <a:prstGeom prst="roundRect">
            <a:avLst/>
          </a:prstGeom>
          <a:solidFill>
            <a:srgbClr val="DCEBFF">
              <a:alpha val="8000"/>
            </a:srgbClr>
          </a:solidFill>
          <a:ln w="10160">
            <a:solidFill>
              <a:srgbClr val="5F94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990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5F94D9"/>
                </a:solidFill>
              </a:rPr>
              <a:t>初回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200400" cy="4526280"/>
          </a:xfrm>
          <a:prstGeom prst="roundRect">
            <a:avLst/>
          </a:prstGeom>
          <a:solidFill>
            <a:srgbClr val="FFE1F3">
              <a:alpha val="8000"/>
            </a:srgbClr>
          </a:solidFill>
          <a:ln w="10160">
            <a:solidFill>
              <a:srgbClr val="F48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3990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48ACB"/>
                </a:solidFill>
              </a:rPr>
              <a:t>会員化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275320" y="1325880"/>
            <a:ext cx="3200400" cy="4526280"/>
          </a:xfrm>
          <a:prstGeom prst="roundRect">
            <a:avLst/>
          </a:prstGeom>
          <a:solidFill>
            <a:srgbClr val="FFE9C9">
              <a:alpha val="8000"/>
            </a:srgbClr>
          </a:solidFill>
          <a:ln w="10160">
            <a:solidFill>
              <a:srgbClr val="F1A6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13990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1A64E"/>
                </a:solidFill>
              </a:rPr>
              <a:t>再来店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1874520"/>
            <a:ext cx="2743200" cy="3108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・アンケート回答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・予約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・来店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・ワークショップで完成品作成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・メールアドレス取得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4709160" y="1874520"/>
            <a:ext cx="2743200" cy="3108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・メールアドレス確認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・仮パスワード送付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・ID/パスワード登録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・アンケート結果・予約・完成品を本人に紐づけ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・QR商品とは別枠で管理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8503920" y="1874520"/>
            <a:ext cx="2743200" cy="3108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・会員ページにログイン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・過去の制作香水を確認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・前回完成品との差分を見る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・同じ香りを予約 / 再度アンケートから予約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914400" y="6053328"/>
            <a:ext cx="10332720" cy="384048"/>
          </a:xfrm>
          <a:prstGeom prst="rect">
            <a:avLst/>
          </a:prstGeom>
          <a:solidFill>
            <a:srgbClr val="FFE1DE"/>
          </a:solidFill>
          <a:ln w="10160">
            <a:solidFill>
              <a:srgbClr val="D83A3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未解決課題：会員ページからアンケート経由で予約する場合、前回完成品との差分表示がまだない。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QR商品導線の考え方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QRは会員ではなく、元のお客様の「完成品」に紐づく。第三者は会員登録不要。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468880"/>
            <a:ext cx="123444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108960" y="2468880"/>
            <a:ext cx="123444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303520" y="2468880"/>
            <a:ext cx="123444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498080" y="2468880"/>
            <a:ext cx="123444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02920" y="2084832"/>
            <a:ext cx="1234440" cy="777240"/>
          </a:xfrm>
          <a:prstGeom prst="rect">
            <a:avLst/>
          </a:prstGeom>
          <a:solidFill>
            <a:srgbClr val="FFE1F3"/>
          </a:solidFill>
          <a:ln w="10160">
            <a:solidFill>
              <a:srgbClr val="F48AC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元の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お客様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65960" y="2084832"/>
            <a:ext cx="1417320" cy="77724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ワークショップ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制作記録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69080" y="2084832"/>
            <a:ext cx="1417320" cy="77724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香水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72200" y="2084832"/>
            <a:ext cx="1417320" cy="77724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QRコード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商品ページ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75320" y="2084832"/>
            <a:ext cx="1508760" cy="77724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第三者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作成依頼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3886200"/>
            <a:ext cx="310896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399592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52525"/>
                </a:solidFill>
              </a:rPr>
              <a:t>表示されるもの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78408" y="4389120"/>
            <a:ext cx="288950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商品名のみ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例：ニックネームさんの香水① / お客様が名付けた香水名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4526280" y="3886200"/>
            <a:ext cx="310896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6008" y="399592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52525"/>
                </a:solidFill>
              </a:rPr>
              <a:t>表示しないもの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6008" y="4389120"/>
            <a:ext cx="288950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元会員情報 / アンケート回答 / 配合比率 / 詳細な香り説明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8183880" y="3886200"/>
            <a:ext cx="310896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93608" y="399592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52525"/>
                </a:solidFill>
              </a:rPr>
              <a:t>注文ではなく作成依頼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93608" y="4389120"/>
            <a:ext cx="288950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原材料在庫を確認してから、発送先入力と着払いへ進む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QR商品ページ：最小入力で腰を軽くする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紹介・魅力づけはSNS側。QRページは依頼受付に徹する。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4709160" cy="4663440"/>
          </a:xfrm>
          <a:prstGeom prst="roundRect">
            <a:avLst/>
          </a:prstGeom>
          <a:solidFill>
            <a:srgbClr val="E9E5FF"/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527048"/>
            <a:ext cx="4489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2525"/>
                </a:solidFill>
              </a:rPr>
              <a:t>QR商品ページに出すもの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6968" y="1920240"/>
            <a:ext cx="4489704" cy="405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商品名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容量・価格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10ml　1,000円（税込）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30ml　2,860円（税込）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数量入力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10ml：＿本 / 30ml：＿本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メールアドレス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ボタン：この香水を作成依頼する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52525"/>
                </a:solidFill>
              </a:rPr>
              <a:t>※このボタンを押すと、原材料在庫の確認後、メールをさせていただきます。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5897880" y="1417320"/>
            <a:ext cx="544068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07608" y="1527048"/>
            <a:ext cx="5221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52525"/>
                </a:solidFill>
              </a:rPr>
              <a:t>合計mlバリデーション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07608" y="1920240"/>
            <a:ext cx="5221224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10mlと30mlは同時依頼可能。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管理者設定の最大mlを超えた場合は送信不可。</a:t>
            </a:r>
            <a:endParaRPr lang="en-US" sz="910" dirty="0"/>
          </a:p>
          <a:p>
            <a:pPr indent="0" marL="0">
              <a:buNone/>
            </a:pP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デフォルト：合計100mlまで</a:t>
            </a:r>
            <a:endParaRPr lang="en-US" sz="910" dirty="0"/>
          </a:p>
        </p:txBody>
      </p:sp>
      <p:sp>
        <p:nvSpPr>
          <p:cNvPr id="14" name="Shape 12"/>
          <p:cNvSpPr/>
          <p:nvPr/>
        </p:nvSpPr>
        <p:spPr>
          <a:xfrm>
            <a:off x="5897880" y="3703320"/>
            <a:ext cx="544068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1A6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07608" y="3813048"/>
            <a:ext cx="5221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52525"/>
                </a:solidFill>
              </a:rPr>
              <a:t>上限超過時の案内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07608" y="4206240"/>
            <a:ext cx="52212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まとまった本数をご希望の場合は、原材料の確認が必要となります。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恐れ入りますが、営業時間内に店舗までお電話にてご相談ください。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5897880" y="5504688"/>
            <a:ext cx="5440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07608" y="5614416"/>
            <a:ext cx="5221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252525"/>
                </a:solidFill>
              </a:rPr>
              <a:t>送料・手数料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07608" y="6007608"/>
            <a:ext cx="5221224" cy="-36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52525"/>
                </a:solidFill>
              </a:rPr>
              <a:t>商品本体は税込表示。送料・着払い手数料は別途案内。発送元は東京想定。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QR作成依頼：ステータスとメール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3営業日ルールをDBの状態遷移として持たせる。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25880"/>
            <a:ext cx="1604772" cy="724989"/>
          </a:xfrm>
          <a:prstGeom prst="rect">
            <a:avLst/>
          </a:prstGeom>
          <a:solidFill>
            <a:srgbClr val="1C3558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状態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2290572" y="1325880"/>
            <a:ext cx="3744468" cy="724989"/>
          </a:xfrm>
          <a:prstGeom prst="rect">
            <a:avLst/>
          </a:prstGeom>
          <a:solidFill>
            <a:srgbClr val="1C3558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トリガー / 送信</a:t>
            </a:r>
            <a:endParaRPr lang="en-US" sz="780" dirty="0"/>
          </a:p>
        </p:txBody>
      </p:sp>
      <p:sp>
        <p:nvSpPr>
          <p:cNvPr id="10" name="Text 8"/>
          <p:cNvSpPr/>
          <p:nvPr/>
        </p:nvSpPr>
        <p:spPr>
          <a:xfrm>
            <a:off x="685800" y="2050869"/>
            <a:ext cx="1604772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作成依頼受付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2290572" y="2050869"/>
            <a:ext cx="3744468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QR送信直後。受付メールを自動送信。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685800" y="2775857"/>
            <a:ext cx="1604772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未対応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290572" y="2775857"/>
            <a:ext cx="3744468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スタッフ通知に表示。3営業日以内に判断。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685800" y="3500846"/>
            <a:ext cx="1604772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作成可能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2290572" y="3500846"/>
            <a:ext cx="3744468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スタッフが在庫確認後にボタン送信。7日URLを発行。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685800" y="4225834"/>
            <a:ext cx="1604772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再案内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2290572" y="4225834"/>
            <a:ext cx="3744468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作成可能メールから3日後に自動送信。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685800" y="4950823"/>
            <a:ext cx="1604772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期限切れ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2290572" y="4950823"/>
            <a:ext cx="3744468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作成可能メールから7日後にURL無効化。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685800" y="5675811"/>
            <a:ext cx="1604772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作成不可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290572" y="5675811"/>
            <a:ext cx="3744468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スタッフ判断、または3営業日超過で自動送信。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6355080" y="1325880"/>
            <a:ext cx="1756562" cy="724989"/>
          </a:xfrm>
          <a:prstGeom prst="rect">
            <a:avLst/>
          </a:prstGeom>
          <a:solidFill>
            <a:srgbClr val="7567C9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後続状態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8111642" y="1325880"/>
            <a:ext cx="3409798" cy="724989"/>
          </a:xfrm>
          <a:prstGeom prst="rect">
            <a:avLst/>
          </a:prstGeom>
          <a:solidFill>
            <a:srgbClr val="7567C9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内容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6355080" y="2050869"/>
            <a:ext cx="1756562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発送先入力待ち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8111642" y="2050869"/>
            <a:ext cx="3409798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作成可能メール内URLから入力。7日で無効。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6355080" y="2775857"/>
            <a:ext cx="1756562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発送準備中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8111642" y="2775857"/>
            <a:ext cx="3409798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住所・電話・決済方法入力完了で自動遷移。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6355080" y="3500846"/>
            <a:ext cx="1756562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発送完了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8111642" y="3500846"/>
            <a:ext cx="3409798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スタッフが発送完了ボタン。成果Bに計上。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6355080" y="4225834"/>
            <a:ext cx="1756562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作成不可後2週間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8111642" y="4225834"/>
            <a:ext cx="3409798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目途が立てば再案内。なければ終了扱い。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6355080" y="4950823"/>
            <a:ext cx="1756562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半年無発送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8111642" y="4950823"/>
            <a:ext cx="3409798" cy="72498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最終発送から半年でQR商品ページを無効化。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6355080" y="5675811"/>
            <a:ext cx="1756562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無効QRアクセス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8111642" y="5675811"/>
            <a:ext cx="3409798" cy="724989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アクセス数を記録し、しきい値超過で管理者通知。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3営業日超過の扱い：店舗体制の異常として記録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スタッフが複数人いる前提で、3営業日未対応は個別再割当ではなく運用指標にする。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331720"/>
            <a:ext cx="128016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46120" y="2331720"/>
            <a:ext cx="128016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577840" y="2331720"/>
            <a:ext cx="128016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909560" y="2331720"/>
            <a:ext cx="128016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02920" y="1965960"/>
            <a:ext cx="1371600" cy="73152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QR依頼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受付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148840" y="1965960"/>
            <a:ext cx="1371600" cy="73152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スタッフ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通知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794760" y="1965960"/>
            <a:ext cx="1371600" cy="731520"/>
          </a:xfrm>
          <a:prstGeom prst="rect">
            <a:avLst/>
          </a:prstGeom>
          <a:solidFill>
            <a:srgbClr val="FFE1DE"/>
          </a:solidFill>
          <a:ln w="10160">
            <a:solidFill>
              <a:srgbClr val="D83A3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3営業日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未対応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40680" y="1965960"/>
            <a:ext cx="1371600" cy="731520"/>
          </a:xfrm>
          <a:prstGeom prst="rect">
            <a:avLst/>
          </a:prstGeom>
          <a:solidFill>
            <a:srgbClr val="FFE1DE"/>
          </a:solidFill>
          <a:ln w="10160">
            <a:solidFill>
              <a:srgbClr val="D83A3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自動で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作成不可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7086600" y="1965960"/>
            <a:ext cx="1371600" cy="731520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依頼者へ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メール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32520" y="1965960"/>
            <a:ext cx="1600200" cy="731520"/>
          </a:xfrm>
          <a:prstGeom prst="rect">
            <a:avLst/>
          </a:prstGeom>
          <a:solidFill>
            <a:srgbClr val="1C3558"/>
          </a:solidFill>
          <a:ln w="10160">
            <a:solidFill>
              <a:srgbClr val="1C355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管理者に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未対応件数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22960" y="3794760"/>
            <a:ext cx="32004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1A6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3904488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依頼者向け文面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" y="4297680"/>
            <a:ext cx="29809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スタッフ未対応とは言わない。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「原材料確保が困難なため、今回は作成を承ることができませんでした。」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34840" y="3794760"/>
            <a:ext cx="32004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44568" y="3904488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管理者向けデータ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44568" y="4297680"/>
            <a:ext cx="29809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期限超過未対応件数 / 店舗別件数 / 対象商品 / 受付日時 / 期限超過日時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046720" y="3794760"/>
            <a:ext cx="32004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C3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56448" y="3904488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意味づけ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156448" y="4297680"/>
            <a:ext cx="29809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これは個別救済ではなく、スタッフ体制・通知運用の問題を発見する材料。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通知設計：見ただけでは消さない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通知は入口をまとめ、対応完了ステータスで消す。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417320"/>
            <a:ext cx="5074920" cy="4389120"/>
          </a:xfrm>
          <a:prstGeom prst="roundRect">
            <a:avLst/>
          </a:prstGeom>
          <a:solidFill>
            <a:srgbClr val="DFF3E8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527048"/>
            <a:ext cx="4855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2525"/>
                </a:solidFill>
              </a:rPr>
              <a:t>スタッフ通知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1920240"/>
            <a:ext cx="485546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表示：通知 ● 5</a:t>
            </a:r>
            <a:endParaRPr lang="en-US" sz="910" dirty="0"/>
          </a:p>
          <a:p>
            <a:pPr indent="0" marL="0">
              <a:buNone/>
            </a:pP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対象：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・予約枠に予約が入った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・QR作成依頼が入った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・管理者から対応割当がある</a:t>
            </a:r>
            <a:endParaRPr lang="en-US" sz="910" dirty="0"/>
          </a:p>
          <a:p>
            <a:pPr indent="0" marL="0">
              <a:buNone/>
            </a:pP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消える条件：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・予約詳細を確認し、事前メモ保存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・QR依頼は作成可能/不可を判断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・対応完了ステータスになった時のみ</a:t>
            </a:r>
            <a:endParaRPr lang="en-US" sz="910" dirty="0"/>
          </a:p>
        </p:txBody>
      </p:sp>
      <p:sp>
        <p:nvSpPr>
          <p:cNvPr id="11" name="Shape 9"/>
          <p:cNvSpPr/>
          <p:nvPr/>
        </p:nvSpPr>
        <p:spPr>
          <a:xfrm>
            <a:off x="6355080" y="1417320"/>
            <a:ext cx="5074920" cy="4389120"/>
          </a:xfrm>
          <a:prstGeom prst="roundRect">
            <a:avLst/>
          </a:prstGeom>
          <a:solidFill>
            <a:srgbClr val="FFE9C9"/>
          </a:solidFill>
          <a:ln w="10160">
            <a:solidFill>
              <a:srgbClr val="F1A6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4808" y="1527048"/>
            <a:ext cx="4855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2525"/>
                </a:solidFill>
              </a:rPr>
              <a:t>管理者通知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64808" y="1920240"/>
            <a:ext cx="485546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表示：QR関連通知 ● 10</a:t>
            </a:r>
            <a:endParaRPr lang="en-US" sz="910" dirty="0"/>
          </a:p>
          <a:p>
            <a:pPr indent="0" marL="0">
              <a:buNone/>
            </a:pP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対象：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・期限超過未対応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・受付終了QRのアクセス急増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・再案内が必要なもの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・通常表示ではなく「見るべきものだけ」表示</a:t>
            </a:r>
            <a:endParaRPr lang="en-US" sz="910" dirty="0"/>
          </a:p>
          <a:p>
            <a:pPr indent="0" marL="0">
              <a:buNone/>
            </a:pP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消える条件：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252525"/>
                </a:solidFill>
              </a:rPr>
              <a:t>・対応完了 / 今回は対応しない / 再有効化など、明確なステータス変更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管理者設定：ハードコードしない値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運用で変わる値は、すべて管理画面から変更できるようにする。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353312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463040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価格設定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5528" y="1856232"/>
            <a:ext cx="3163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10ml：1,000円（税込）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30ml：2,860円（税込）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1円単位で変更可能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4434840" y="1353312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463040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依頼上限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44568" y="1856232"/>
            <a:ext cx="3163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最大依頼容量：100ml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QRページに「最大で合計○○mlまで」と表示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8183880" y="1353312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1463040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期限設定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3608" y="1856232"/>
            <a:ext cx="3163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作成可否確認：3営業日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発送先URL：7日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作成不可後の再案内窓：2週間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685800" y="29718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C35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3081528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店舗情報設定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5528" y="3474720"/>
            <a:ext cx="3163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店舗名 / 電話番号 / 営業時間 / 定休日 / 店舗LP URL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各画面・メールで共通参照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4434840" y="29718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1A6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44568" y="3081528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アクセス通知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44568" y="3474720"/>
            <a:ext cx="3163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受付終了QRの直近7日アクセスが○○件以上で管理者通知。しきい値は変更可能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8183880" y="29718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E8C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93608" y="3081528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2525"/>
                </a:solidFill>
              </a:rPr>
              <a:t>配送/決済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93608" y="3474720"/>
            <a:ext cx="3163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初期：着払いのみ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送料・手数料は別途案内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252525"/>
                </a:solidFill>
              </a:rPr>
              <a:t>カード決済は将来の外部連携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914400" y="5074920"/>
            <a:ext cx="10332720" cy="594360"/>
          </a:xfrm>
          <a:prstGeom prst="rect">
            <a:avLst/>
          </a:prstGeom>
          <a:solidFill>
            <a:srgbClr val="1C3558"/>
          </a:solidFill>
          <a:ln w="10160">
            <a:solidFill>
              <a:srgbClr val="1C355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設定テーブルは「運用で変わる数値」と「ロジック本体」を分けるための安全装置。変更のたびにコードを触らない。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QR商品のライフサイクル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古いQRが残っても、ページ状態とアクセス記録で安全に扱う。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331720"/>
            <a:ext cx="1188720" cy="0"/>
          </a:xfrm>
          <a:prstGeom prst="line">
            <a:avLst/>
          </a:prstGeom>
          <a:noFill/>
          <a:ln w="13970">
            <a:solidFill>
              <a:srgbClr val="7567C9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63240" y="2331720"/>
            <a:ext cx="1188720" cy="0"/>
          </a:xfrm>
          <a:prstGeom prst="line">
            <a:avLst/>
          </a:prstGeom>
          <a:noFill/>
          <a:ln w="13970">
            <a:solidFill>
              <a:srgbClr val="7567C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57800" y="2331720"/>
            <a:ext cx="1188720" cy="0"/>
          </a:xfrm>
          <a:prstGeom prst="line">
            <a:avLst/>
          </a:prstGeom>
          <a:noFill/>
          <a:ln w="13970">
            <a:solidFill>
              <a:srgbClr val="7567C9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452360" y="2331720"/>
            <a:ext cx="1188720" cy="0"/>
          </a:xfrm>
          <a:prstGeom prst="line">
            <a:avLst/>
          </a:prstGeom>
          <a:noFill/>
          <a:ln w="13970">
            <a:solidFill>
              <a:srgbClr val="7567C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646920" y="2331720"/>
            <a:ext cx="1005840" cy="0"/>
          </a:xfrm>
          <a:prstGeom prst="line">
            <a:avLst/>
          </a:prstGeom>
          <a:noFill/>
          <a:ln w="13970">
            <a:solidFill>
              <a:srgbClr val="7567C9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11480" y="1965960"/>
            <a:ext cx="1371600" cy="73152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QR発行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57400" y="1965960"/>
            <a:ext cx="1371600" cy="73152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受付中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03320" y="1965960"/>
            <a:ext cx="1371600" cy="73152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依頼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発送完了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349240" y="1965960"/>
            <a:ext cx="1371600" cy="731520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半年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無発送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95160" y="1965960"/>
            <a:ext cx="1371600" cy="731520"/>
          </a:xfrm>
          <a:prstGeom prst="rect">
            <a:avLst/>
          </a:prstGeom>
          <a:solidFill>
            <a:srgbClr val="FFE1DE"/>
          </a:solidFill>
          <a:ln w="10160">
            <a:solidFill>
              <a:srgbClr val="D83A3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受付終了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41080" y="1965960"/>
            <a:ext cx="1371600" cy="731520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アクセス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記録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149840" y="1965960"/>
            <a:ext cx="1508760" cy="731520"/>
          </a:xfrm>
          <a:prstGeom prst="rect">
            <a:avLst/>
          </a:prstGeom>
          <a:solidFill>
            <a:srgbClr val="1C3558"/>
          </a:solidFill>
          <a:ln w="10160">
            <a:solidFill>
              <a:srgbClr val="1C355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管理者判断</a:t>
            </a:r>
            <a:endParaRPr lang="en-US" sz="870" dirty="0"/>
          </a:p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再有効化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822960" y="3749040"/>
            <a:ext cx="310896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385876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52525"/>
                </a:solidFill>
              </a:rPr>
              <a:t>受付終了時の表示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932688" y="4251960"/>
            <a:ext cx="288950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この香水は原材料の都合により受付を終了しました。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現在受付中の商品やワークショップは店舗ページへ。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4526280" y="3749040"/>
            <a:ext cx="310896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1A6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6008" y="385876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52525"/>
                </a:solidFill>
              </a:rPr>
              <a:t>アクセス急増の検知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4636008" y="4251960"/>
            <a:ext cx="288950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受付終了後もQRアクセスは記録。直近7日でしきい値を超えたら通知。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8183880" y="3749040"/>
            <a:ext cx="310896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C355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93608" y="385876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52525"/>
                </a:solidFill>
              </a:rPr>
              <a:t>再有効化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93608" y="4251960"/>
            <a:ext cx="288950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52525"/>
                </a:solidFill>
              </a:rPr>
              <a:t>自動復活ではなく、管理者が需要・原料・季節性を見て手動判断。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追加すべきDB：役割一覧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既存DBに上から被せるのではなく、完成品・QR・依頼・通知を分ける。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25880"/>
            <a:ext cx="1834286" cy="711926"/>
          </a:xfrm>
          <a:prstGeom prst="rect">
            <a:avLst/>
          </a:prstGeom>
          <a:solidFill>
            <a:srgbClr val="1C3558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テーブル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2520086" y="1325880"/>
            <a:ext cx="3560674" cy="711926"/>
          </a:xfrm>
          <a:prstGeom prst="rect">
            <a:avLst/>
          </a:prstGeom>
          <a:solidFill>
            <a:srgbClr val="1C3558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主な役割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685800" y="2037806"/>
            <a:ext cx="1834286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customers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2520086" y="2037806"/>
            <a:ext cx="3560674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会員。本人の制作履歴・再来店用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2749731"/>
            <a:ext cx="1834286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customer_auth_links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2520086" y="2749731"/>
            <a:ext cx="3560674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メールアドレス・仮パス・初回登録の接続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685800" y="3461657"/>
            <a:ext cx="1834286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fragrance_products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2520086" y="3461657"/>
            <a:ext cx="3560674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完成品。商品名・最終配合・QR状態・最終発送日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685800" y="4173583"/>
            <a:ext cx="1834286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qr_codes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2520086" y="4173583"/>
            <a:ext cx="3560674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完成品に紐づくQR token。有効/無効を管理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685800" y="4885509"/>
            <a:ext cx="1834286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qr_product_requests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2520086" y="4885509"/>
            <a:ext cx="3560674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容量・数量・メール・ステータス・期限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85800" y="5597434"/>
            <a:ext cx="1834286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shipping_details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2520086" y="5597434"/>
            <a:ext cx="3560674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作成可能後にだけ取得する名前・住所・電話・決済方法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6355080" y="1325880"/>
            <a:ext cx="1756562" cy="711926"/>
          </a:xfrm>
          <a:prstGeom prst="rect">
            <a:avLst/>
          </a:prstGeom>
          <a:solidFill>
            <a:srgbClr val="7567C9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テーブル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8111642" y="1325880"/>
            <a:ext cx="3409798" cy="711926"/>
          </a:xfrm>
          <a:prstGeom prst="rect">
            <a:avLst/>
          </a:prstGeom>
          <a:solidFill>
            <a:srgbClr val="7567C9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主な役割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6355080" y="2037806"/>
            <a:ext cx="1756562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email_logs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111642" y="2037806"/>
            <a:ext cx="3409798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受付/可否/再案内/期限切れメール履歴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355080" y="2749731"/>
            <a:ext cx="1756562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notification_events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8111642" y="2749731"/>
            <a:ext cx="3409798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スタッフ/管理者通知。対応完了で消える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355080" y="3461657"/>
            <a:ext cx="1756562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qr_access_logs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8111642" y="3461657"/>
            <a:ext cx="3409798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受付終了QRも含めたアクセス記録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6355080" y="4173583"/>
            <a:ext cx="1756562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store_settings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8111642" y="4173583"/>
            <a:ext cx="3409798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店舗名・電話・営業時間・LP URL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6355080" y="4885509"/>
            <a:ext cx="1756562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product_request_settings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8111642" y="4885509"/>
            <a:ext cx="3409798" cy="71192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最大ml・3営業日・7日URL・通知しきい値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6355080" y="5597434"/>
            <a:ext cx="1756562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consent_logs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8111642" y="5597434"/>
            <a:ext cx="3409798" cy="711926"/>
          </a:xfrm>
          <a:prstGeom prst="rect">
            <a:avLst/>
          </a:prstGeom>
          <a:solidFill>
            <a:srgbClr val="F6F2EA"/>
          </a:solidFill>
          <a:ln w="10160">
            <a:solidFill>
              <a:srgbClr val="D8D0C5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個人情報同意・第三者作成同意の保存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DB関係図：完成品を中心に接続する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会員、予約、ワークショップ、QR依頼を混ぜずに紐づける。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1828800"/>
            <a:ext cx="128016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023360" y="1828800"/>
            <a:ext cx="128016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583680" y="1828800"/>
            <a:ext cx="128016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144000" y="1828800"/>
            <a:ext cx="9144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989320" y="2423160"/>
            <a:ext cx="0" cy="59436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98080" y="3520440"/>
            <a:ext cx="109728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75520" y="3520440"/>
            <a:ext cx="54864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29000" y="4343400"/>
            <a:ext cx="11430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760720" y="4343400"/>
            <a:ext cx="11430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138160" y="4343400"/>
            <a:ext cx="1143000" cy="0"/>
          </a:xfrm>
          <a:prstGeom prst="line">
            <a:avLst/>
          </a:prstGeom>
          <a:noFill/>
          <a:ln w="13970">
            <a:solidFill>
              <a:srgbClr val="CDC5B8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02920" y="1508760"/>
            <a:ext cx="1417320" cy="640080"/>
          </a:xfrm>
          <a:prstGeom prst="rect">
            <a:avLst/>
          </a:prstGeom>
          <a:solidFill>
            <a:srgbClr val="FFE1F3"/>
          </a:solidFill>
          <a:ln w="10160">
            <a:solidFill>
              <a:srgbClr val="F48AC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customers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会員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2651760" y="1508760"/>
            <a:ext cx="1600200" cy="640080"/>
          </a:xfrm>
          <a:prstGeom prst="rect">
            <a:avLst/>
          </a:prstGeom>
          <a:solidFill>
            <a:srgbClr val="FFE9C9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reservations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予約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5166360" y="1508760"/>
            <a:ext cx="1600200" cy="64008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workshop_sessions</a:t>
            </a:r>
            <a:endParaRPr lang="en-US" sz="770" dirty="0"/>
          </a:p>
          <a:p>
            <a:pPr algn="ctr" indent="0" marL="0">
              <a:buNone/>
            </a:pPr>
            <a:r>
              <a:rPr lang="en-US" sz="77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接客記録</a:t>
            </a:r>
            <a:endParaRPr lang="en-US" sz="770" dirty="0"/>
          </a:p>
        </p:txBody>
      </p:sp>
      <p:sp>
        <p:nvSpPr>
          <p:cNvPr id="21" name="Text 19"/>
          <p:cNvSpPr/>
          <p:nvPr/>
        </p:nvSpPr>
        <p:spPr>
          <a:xfrm>
            <a:off x="7726680" y="1508760"/>
            <a:ext cx="1600200" cy="640080"/>
          </a:xfrm>
          <a:prstGeom prst="rect">
            <a:avLst/>
          </a:prstGeom>
          <a:solidFill>
            <a:srgbClr val="DFF3E8"/>
          </a:solidFill>
          <a:ln w="10160">
            <a:solidFill>
              <a:srgbClr val="45A67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fragrance_products</a:t>
            </a:r>
            <a:endParaRPr lang="en-US" sz="730" dirty="0"/>
          </a:p>
          <a:p>
            <a:pPr algn="ctr" indent="0" marL="0">
              <a:buNone/>
            </a:pPr>
            <a:r>
              <a:rPr lang="en-US" sz="73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完成品</a:t>
            </a:r>
            <a:endParaRPr lang="en-US" sz="730" dirty="0"/>
          </a:p>
        </p:txBody>
      </p:sp>
      <p:sp>
        <p:nvSpPr>
          <p:cNvPr id="22" name="Text 20"/>
          <p:cNvSpPr/>
          <p:nvPr/>
        </p:nvSpPr>
        <p:spPr>
          <a:xfrm>
            <a:off x="9966960" y="1508760"/>
            <a:ext cx="1508760" cy="640080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qr_codes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4937760" y="3063240"/>
            <a:ext cx="210312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1C355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consent_logs</a:t>
            </a:r>
            <a:endParaRPr lang="en-US" sz="740" dirty="0"/>
          </a:p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個人情報/第三者作成同意</a:t>
            </a:r>
            <a:endParaRPr lang="en-US" sz="740" dirty="0"/>
          </a:p>
        </p:txBody>
      </p:sp>
      <p:sp>
        <p:nvSpPr>
          <p:cNvPr id="24" name="Text 22"/>
          <p:cNvSpPr/>
          <p:nvPr/>
        </p:nvSpPr>
        <p:spPr>
          <a:xfrm>
            <a:off x="8183880" y="3246120"/>
            <a:ext cx="1783080" cy="566928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qr_product_requests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依頼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10149840" y="3246120"/>
            <a:ext cx="123444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shipping</a:t>
            </a:r>
            <a:endParaRPr lang="en-US" sz="740" dirty="0"/>
          </a:p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発送先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2377440" y="4069080"/>
            <a:ext cx="2057400" cy="566928"/>
          </a:xfrm>
          <a:prstGeom prst="rect">
            <a:avLst/>
          </a:prstGeom>
          <a:solidFill>
            <a:srgbClr val="DCEB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questionnaire_results</a:t>
            </a:r>
            <a:endParaRPr lang="en-US" sz="740" dirty="0"/>
          </a:p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回答・5軸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4526280" y="4069080"/>
            <a:ext cx="150876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F1A64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email_logs</a:t>
            </a:r>
            <a:endParaRPr lang="en-US" sz="740" dirty="0"/>
          </a:p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メール履歴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6812280" y="4069080"/>
            <a:ext cx="160020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83A3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notification_events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通知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9189720" y="4069080"/>
            <a:ext cx="169164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5F94D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qr_access_logs</a:t>
            </a:r>
            <a:endParaRPr lang="en-US" sz="740" dirty="0"/>
          </a:p>
          <a:p>
            <a:pPr algn="ctr" indent="0" marL="0">
              <a:buNone/>
            </a:pPr>
            <a:r>
              <a:rPr lang="en-US" sz="74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アクセス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777240" y="5349240"/>
            <a:ext cx="2057400" cy="566928"/>
          </a:xfrm>
          <a:prstGeom prst="rect">
            <a:avLst/>
          </a:prstGeom>
          <a:solidFill>
            <a:srgbClr val="E9E5FF"/>
          </a:solidFill>
          <a:ln w="10160">
            <a:solidFill>
              <a:srgbClr val="7567C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scoring_configs</a:t>
            </a:r>
            <a:endParaRPr lang="en-US" sz="770" dirty="0"/>
          </a:p>
          <a:p>
            <a:pPr algn="ctr" indent="0" marL="0">
              <a:buNone/>
            </a:pPr>
            <a:r>
              <a:rPr lang="en-US" sz="77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配点設定</a:t>
            </a:r>
            <a:endParaRPr lang="en-US" sz="770" dirty="0"/>
          </a:p>
        </p:txBody>
      </p:sp>
      <p:sp>
        <p:nvSpPr>
          <p:cNvPr id="31" name="Text 29"/>
          <p:cNvSpPr/>
          <p:nvPr/>
        </p:nvSpPr>
        <p:spPr>
          <a:xfrm>
            <a:off x="3337560" y="5349240"/>
            <a:ext cx="2057400" cy="566928"/>
          </a:xfrm>
          <a:prstGeom prst="rect">
            <a:avLst/>
          </a:prstGeom>
          <a:solidFill>
            <a:srgbClr val="FFE1F3"/>
          </a:solidFill>
          <a:ln w="10160">
            <a:solidFill>
              <a:srgbClr val="F48AC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material_points</a:t>
            </a:r>
            <a:endParaRPr lang="en-US" sz="770" dirty="0"/>
          </a:p>
          <a:p>
            <a:pPr algn="ctr" indent="0" marL="0">
              <a:buNone/>
            </a:pPr>
            <a:r>
              <a:rPr lang="en-US" sz="77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原料ポイント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5897880" y="5349240"/>
            <a:ext cx="205740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1C355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store_settings</a:t>
            </a:r>
            <a:endParaRPr lang="en-US" sz="770" dirty="0"/>
          </a:p>
          <a:p>
            <a:pPr algn="ctr" indent="0" marL="0">
              <a:buNone/>
            </a:pPr>
            <a:r>
              <a:rPr lang="en-US" sz="77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店舗情報</a:t>
            </a:r>
            <a:endParaRPr lang="en-US" sz="770" dirty="0"/>
          </a:p>
        </p:txBody>
      </p:sp>
      <p:sp>
        <p:nvSpPr>
          <p:cNvPr id="33" name="Text 31"/>
          <p:cNvSpPr/>
          <p:nvPr/>
        </p:nvSpPr>
        <p:spPr>
          <a:xfrm>
            <a:off x="8458200" y="5349240"/>
            <a:ext cx="224028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1C355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product_request_settings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QR設定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裏側の守り：認証・権限・データ保持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ここを曖昧にすると、後から修正が難しい。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20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371600"/>
            <a:ext cx="3383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481328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52525"/>
                </a:solidFill>
              </a:rPr>
              <a:t>認証・権限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1874520"/>
            <a:ext cx="316382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・会員 / スタッフ / 管理者を分ける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・管理者ログイン後にスタッフ自動ログイン状態へ吸われない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・authenticated なら全操作可能、というRLSは本番前に見直す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・スタッフ成果と実務対応者を分ける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434840" y="1371600"/>
            <a:ext cx="3383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481328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52525"/>
                </a:solidFill>
              </a:rPr>
              <a:t>データ保持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44568" y="1874520"/>
            <a:ext cx="316382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・QR依頼者は会員DBに入れない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・発送先は作成可能後だけ取得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・最終発送から半年無発送でQR受付終了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・古いQRは削除ではなく無効化＋受付終了表示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・アクセス数は保持して再需要を検知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183880" y="1371600"/>
            <a:ext cx="3383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1481328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52525"/>
                </a:solidFill>
              </a:rPr>
              <a:t>状態管理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93608" y="1874520"/>
            <a:ext cx="316382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・通知は見ただけでは消さない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・メール送信は email_logs に残す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・3営業日超過は自動作成不可＋管理者集計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・発送完了を成果Bとする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52525"/>
                </a:solidFill>
              </a:rPr>
              <a:t>・ステータスをDBの正にする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実装ロードマップ：どこから手を付けるか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基盤 → クライアント満足ライン → QR商品導線 → 運用改善の順に積む。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21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25880"/>
            <a:ext cx="2240280" cy="4572000"/>
          </a:xfrm>
          <a:prstGeom prst="roundRect">
            <a:avLst/>
          </a:prstGeom>
          <a:solidFill>
            <a:srgbClr val="FFE1DE">
              <a:alpha val="8000"/>
            </a:srgbClr>
          </a:solidFill>
          <a:ln w="10160">
            <a:solidFill>
              <a:srgbClr val="D83A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39903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D83A30"/>
                </a:solidFill>
              </a:rPr>
              <a:t>Phase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D83A30"/>
                </a:solidFill>
              </a:rPr>
              <a:t>基盤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971800" y="1325880"/>
            <a:ext cx="2240280" cy="4572000"/>
          </a:xfrm>
          <a:prstGeom prst="roundRect">
            <a:avLst/>
          </a:prstGeom>
          <a:solidFill>
            <a:srgbClr val="DCEBFF">
              <a:alpha val="8000"/>
            </a:srgbClr>
          </a:solidFill>
          <a:ln w="10160">
            <a:solidFill>
              <a:srgbClr val="5F94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139903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5F94D9"/>
                </a:solidFill>
              </a:rPr>
              <a:t>Phase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F94D9"/>
                </a:solidFill>
              </a:rPr>
              <a:t>満足ライン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349240" y="1325880"/>
            <a:ext cx="2240280" cy="4572000"/>
          </a:xfrm>
          <a:prstGeom prst="roundRect">
            <a:avLst/>
          </a:prstGeom>
          <a:solidFill>
            <a:srgbClr val="DFF3E8">
              <a:alpha val="8000"/>
            </a:srgbClr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40680" y="139903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45A675"/>
                </a:solidFill>
              </a:rPr>
              <a:t>Phase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45A675"/>
                </a:solidFill>
              </a:rPr>
              <a:t>商品化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26680" y="1325880"/>
            <a:ext cx="2240280" cy="4572000"/>
          </a:xfrm>
          <a:prstGeom prst="roundRect">
            <a:avLst/>
          </a:prstGeom>
          <a:solidFill>
            <a:srgbClr val="E9E5FF">
              <a:alpha val="8000"/>
            </a:srgbClr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18120" y="139903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7567C9"/>
                </a:solidFill>
              </a:rPr>
              <a:t>Phase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7567C9"/>
                </a:solidFill>
              </a:rPr>
              <a:t>QR依頼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0104120" y="1325880"/>
            <a:ext cx="1508760" cy="4572000"/>
          </a:xfrm>
          <a:prstGeom prst="roundRect">
            <a:avLst/>
          </a:prstGeom>
          <a:solidFill>
            <a:srgbClr val="FFE9C9">
              <a:alpha val="8000"/>
            </a:srgbClr>
          </a:solidFill>
          <a:ln w="10160">
            <a:solidFill>
              <a:srgbClr val="F1A6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95560" y="13990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1A64E"/>
                </a:solidFill>
              </a:rPr>
              <a:t>Phase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F1A64E"/>
                </a:solidFill>
              </a:rPr>
              <a:t>運用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77240" y="1920240"/>
            <a:ext cx="1874520" cy="3291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・会員DB接続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・認証/権限分離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・予約/回答/会員紐づけ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・スタッフ自動ログイン整理</a:t>
            </a:r>
            <a:endParaRPr lang="en-US" sz="810" dirty="0"/>
          </a:p>
        </p:txBody>
      </p:sp>
      <p:sp>
        <p:nvSpPr>
          <p:cNvPr id="19" name="Text 17"/>
          <p:cNvSpPr/>
          <p:nvPr/>
        </p:nvSpPr>
        <p:spPr>
          <a:xfrm>
            <a:off x="3154680" y="1920240"/>
            <a:ext cx="1874520" cy="3291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・アンケートロジック安定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・原料ポイント調整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・DB保存/復元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・スタッフ詳細連携</a:t>
            </a:r>
            <a:endParaRPr lang="en-US" sz="810" dirty="0"/>
          </a:p>
        </p:txBody>
      </p:sp>
      <p:sp>
        <p:nvSpPr>
          <p:cNvPr id="20" name="Text 18"/>
          <p:cNvSpPr/>
          <p:nvPr/>
        </p:nvSpPr>
        <p:spPr>
          <a:xfrm>
            <a:off x="5532120" y="1920240"/>
            <a:ext cx="1874520" cy="3291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・商品名入力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・個人情報同意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・第三者作成同意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・完成品DB/QR発行</a:t>
            </a:r>
            <a:endParaRPr lang="en-US" sz="810" dirty="0"/>
          </a:p>
        </p:txBody>
      </p:sp>
      <p:sp>
        <p:nvSpPr>
          <p:cNvPr id="21" name="Text 19"/>
          <p:cNvSpPr/>
          <p:nvPr/>
        </p:nvSpPr>
        <p:spPr>
          <a:xfrm>
            <a:off x="7909560" y="1920240"/>
            <a:ext cx="1874520" cy="3291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・QR商品ページ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・容量/数量/メール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・3営業日ルール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252525"/>
                </a:solidFill>
              </a:rPr>
              <a:t>・発送先/着払い/発送完了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10268712" y="1920240"/>
            <a:ext cx="1143000" cy="3291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52525"/>
                </a:solidFill>
              </a:rPr>
              <a:t>・通知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252525"/>
                </a:solidFill>
              </a:rPr>
              <a:t>・価格/最大ml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252525"/>
                </a:solidFill>
              </a:rPr>
              <a:t>・店舗情報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252525"/>
                </a:solidFill>
              </a:rPr>
              <a:t>・無効QRアクセス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868680" y="6080760"/>
            <a:ext cx="10424160" cy="384048"/>
          </a:xfrm>
          <a:prstGeom prst="rect">
            <a:avLst/>
          </a:prstGeom>
          <a:solidFill>
            <a:srgbClr val="1C3558"/>
          </a:solidFill>
          <a:ln w="10160">
            <a:solidFill>
              <a:srgbClr val="1C3558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優先順位の核心：QRを急いで作る前に、完成品・会員・権限・状態管理を固める。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w="12700">
            <a:solidFill>
              <a:srgbClr val="1C35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25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最終ゴール：扱いやすいUIと納得できるロジック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06E68"/>
                </a:solidFill>
              </a:rPr>
              <a:t>ワークショップだからこそ生まれる「無限の組み合わせ」と「欲しがる人との接点」を形にする。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06E68"/>
                </a:solidFill>
              </a:rPr>
              <a:t>22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033272"/>
            <a:ext cx="11201400" cy="0"/>
          </a:xfrm>
          <a:prstGeom prst="line">
            <a:avLst/>
          </a:prstGeom>
          <a:noFill/>
          <a:ln w="8890">
            <a:solidFill>
              <a:srgbClr val="E3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3337560" cy="4206240"/>
          </a:xfrm>
          <a:prstGeom prst="roundRect">
            <a:avLst/>
          </a:prstGeom>
          <a:solidFill>
            <a:srgbClr val="DCEBFF"/>
          </a:solidFill>
          <a:ln w="10160">
            <a:solidFill>
              <a:srgbClr val="5F94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52704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2525"/>
                </a:solidFill>
              </a:rPr>
              <a:t>利用者にとって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6968" y="1920240"/>
            <a:ext cx="3118104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アンケートで自分の香りの方向性が見える。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来店してスタッフと一緒に香水を作れる。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気に入った香りは会員ページから振り返れる。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34840" y="1417320"/>
            <a:ext cx="3337560" cy="4206240"/>
          </a:xfrm>
          <a:prstGeom prst="roundRect">
            <a:avLst/>
          </a:prstGeom>
          <a:solidFill>
            <a:srgbClr val="DFF3E8"/>
          </a:solidFill>
          <a:ln w="10160">
            <a:solidFill>
              <a:srgbClr val="45A6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52704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2525"/>
                </a:solidFill>
              </a:rPr>
              <a:t>店舗にとって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44568" y="1920240"/>
            <a:ext cx="3118104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ロジック・原料・価格・通知を運用で調整できる。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スタッフ成果と発送完了を見られる。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QRアクセスから再需要も拾える。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92440" y="1417320"/>
            <a:ext cx="3337560" cy="4206240"/>
          </a:xfrm>
          <a:prstGeom prst="roundRect">
            <a:avLst/>
          </a:prstGeom>
          <a:solidFill>
            <a:srgbClr val="E9E5FF"/>
          </a:solidFill>
          <a:ln w="10160">
            <a:solidFill>
              <a:srgbClr val="7567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52704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2525"/>
                </a:solidFill>
              </a:rPr>
              <a:t>第三者にとって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02168" y="1920240"/>
            <a:ext cx="3118104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SNSで見た香水を、会員登録なしで気軽に作成依頼できる。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52525"/>
                </a:solidFill>
              </a:rPr>
              <a:t>「推しと同じ香り」「知人が作った香り」を自然に共有できる。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61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C3558"/>
                </a:solidFill>
              </a:rPr>
              <a:t>結論：まず裏側を強くする。その上でQR商品導線を乗せると、このサービスは単なる予約サイトではなく「香りが広がる仕組み」になる。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878078"/>
                </a:solidFill>
              </a:rPr>
              <a:t>現状リポジトリ・対話内容をもとにした設計整理案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香りワークショップ予約・QR商品化システム 現状整理と理想導線設計 v5</dc:title>
  <dc:subject>Fragrance questionnaire system - stable core and QR product request architecture</dc:subject>
  <dc:creator>OpenAI</dc:creator>
  <cp:lastModifiedBy>OpenAI</cp:lastModifiedBy>
  <cp:revision>1</cp:revision>
  <dcterms:created xsi:type="dcterms:W3CDTF">2026-04-26T13:41:55Z</dcterms:created>
  <dcterms:modified xsi:type="dcterms:W3CDTF">2026-04-26T13:41:55Z</dcterms:modified>
</cp:coreProperties>
</file>