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9F1"/>
          </a:solidFill>
          <a:ln w="12700">
            <a:solidFill>
              <a:srgbClr val="FFF9F1"/>
            </a:solidFill>
            <a:prstDash val="solid"/>
          </a:ln>
        </p:spPr>
      </p:sp>
      <p:pic>
        <p:nvPicPr>
          <p:cNvPr id="3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658368"/>
            <a:ext cx="6583680" cy="37033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4498848"/>
            <a:ext cx="12191695" cy="23591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21792" y="566928"/>
            <a:ext cx="338328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" y="1078992"/>
            <a:ext cx="1444752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6384" y="1152144"/>
            <a:ext cx="11887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58368" y="1664208"/>
            <a:ext cx="416052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スタッフ操作マニュアル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85800" y="2788920"/>
            <a:ext cx="438912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1スライド1操作で、どこを押す・何を入力する・完了後に何が見えるかを確認できます。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4956048"/>
            <a:ext cx="777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確認順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4980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ログインする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ダッシュボードを確認する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予約枠を作成する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予約一覧を見る</a:t>
            </a:r>
            <a:endParaRPr lang="en-US" sz="1020" dirty="0"/>
          </a:p>
        </p:txBody>
      </p:sp>
      <p:sp>
        <p:nvSpPr>
          <p:cNvPr id="12" name="Text 9"/>
          <p:cNvSpPr/>
          <p:nvPr/>
        </p:nvSpPr>
        <p:spPr>
          <a:xfrm>
            <a:off x="449884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顧客詳細を確認する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6. 5軸から原料を提案する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7. 配合を調整する</a:t>
            </a:r>
            <a:endParaRPr lang="en-US" sz="1020" dirty="0"/>
          </a:p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8. 完成品を登録する</a:t>
            </a:r>
            <a:endParaRPr lang="en-US" sz="1020" dirty="0"/>
          </a:p>
        </p:txBody>
      </p:sp>
      <p:sp>
        <p:nvSpPr>
          <p:cNvPr id="13" name="Text 10"/>
          <p:cNvSpPr/>
          <p:nvPr/>
        </p:nvSpPr>
        <p:spPr>
          <a:xfrm>
            <a:off x="8247888" y="5321808"/>
            <a:ext cx="3364992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9. QR依頼に対応する</a:t>
            </a:r>
            <a:endParaRPr lang="en-US" sz="10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スタッフ用画面に入り、当日の予約を確認できる状態にします。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スタッフ・管理者ログイン画面を開きます。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スタッフ用のログイン情報を入力します。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スタッフダッシュボードが表示されることを確認します。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管理者アカウントとスタッフアカウントを混同しないでください。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本日のワークショップが表示されれば完了です。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ダッシュボードを確認する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当日の予定と対応が必要な項目を先に確認します。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本日の予約、未対応通知、QR依頼の有無を見ます。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担当予約が表示されているか確認します。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必要に応じて予約一覧や顧客詳細へ移動します。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表示されない予約がある場合は、担当スタッフの紐づけを管理者に確認します。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今日見るべき項目を把握できれば完了です。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3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予約枠を作成する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受付可能な日時と人数を登録します。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予約枠作成ページを開きます。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日付、時間、定員、担当者を入力します。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保存後、公開予約に表示される前提で内容を確認します。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過去日時や定員の入力間違いは、予約トラブルにつながります。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予約枠が一覧に追加されれば完了です。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4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予約一覧を見る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担当する予約を確認し、来店前準備に使います。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予約一覧ページを開きます。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日付、時間、お客様名、状態を確認します。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必要な予約を選んで顧客詳細へ進みます。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予約状態の変更は、実際の来店状況と合わせて行います。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対象予約の詳細へ進めれば完了です。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5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顧客詳細を確認する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お客様の回答、予約情報、商品名を確認します。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顧客詳細ページで基本情報を確認します。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アンケート回答と香り5軸を確認します。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当日使うメモや商品名を必要に応じて保存します。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個人情報を扱うため、画面を開いたまま離席しないでください。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当日の準備情報が確認できれば完了です。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5軸から原料を提案する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アンケート結果5軸と調整後5軸を見て、提案の迷いを減らします。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アンケート結果の5軸グラフを確認します。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お客様調整後の5軸グラフを確認します。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差分を見ながら、原料候補と説明の方向性を決めます。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重要な流れは「結果5軸 → 調整後5軸 → 原料提案」です。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提案候補を説明できる状態になれば完了です。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7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配合を調整する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お客様と会話しながら、香りの方向性を最終調整します。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候補原料をもとに試香します。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お客様の反応を見ながら軸やメモを調整します。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最終的に作る香りの内容を確認します。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調整内容は、後から確認できるようにメモへ残します。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最終案が決まれば完了です。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完成品を登録する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完成した香水を、制作履歴として残します。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商品名、説明、スタッフ名などを入力します。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必要に応じてタグやQR公開用の情報を確認します。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登録後、会員ページや履歴で見える内容を確認します。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登録内容はお客様が後で見る可能性があります。表記を丁寧に確認します。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制作履歴に反映されれば完了です。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9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BD8BE">
                <a:alpha val="9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164592"/>
            <a:ext cx="2926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Fragrance Workshop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646920" y="155448"/>
            <a:ext cx="12801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スタッフ向け</a:t>
            </a:r>
            <a:endParaRPr lang="en-US" sz="880" dirty="0"/>
          </a:p>
        </p:txBody>
      </p:sp>
      <p:sp>
        <p:nvSpPr>
          <p:cNvPr id="5" name="Text 3"/>
          <p:cNvSpPr/>
          <p:nvPr/>
        </p:nvSpPr>
        <p:spPr>
          <a:xfrm>
            <a:off x="11201400" y="155448"/>
            <a:ext cx="438912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r" indent="0" marL="0">
              <a:buNone/>
            </a:pPr>
            <a:r>
              <a:rPr lang="en-US" sz="82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10/10</a:t>
            </a:r>
            <a:endParaRPr lang="en-US" sz="820" dirty="0"/>
          </a:p>
        </p:txBody>
      </p:sp>
      <p:sp>
        <p:nvSpPr>
          <p:cNvPr id="6" name="Shape 4"/>
          <p:cNvSpPr/>
          <p:nvPr/>
        </p:nvSpPr>
        <p:spPr>
          <a:xfrm>
            <a:off x="502920" y="786384"/>
            <a:ext cx="11201400" cy="5532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078992"/>
            <a:ext cx="914400" cy="347472"/>
          </a:xfrm>
          <a:prstGeom prst="roundRect">
            <a:avLst/>
          </a:prstGeom>
          <a:solidFill>
            <a:srgbClr val="7E9B78">
              <a:alpha val="88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9264" y="1152144"/>
            <a:ext cx="658368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操作 9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41248" y="1536192"/>
            <a:ext cx="516636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QR依頼に対応する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9536" y="2057400"/>
            <a:ext cx="5029200" cy="3931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作成依頼が届いたら、原料確認と返信判断を行います。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41248" y="2697480"/>
            <a:ext cx="5257800" cy="566928"/>
          </a:xfrm>
          <a:prstGeom prst="roundRect">
            <a:avLst/>
          </a:prstGeom>
          <a:solidFill>
            <a:srgbClr val="FFF2E1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7552" y="2825496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9848" y="2884932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417320" y="2816352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QR依頼一覧を開きます。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41248" y="3447288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3575304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9848" y="3634740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417320" y="3566160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依頼数量、メールアドレス、対象商品を確認します。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41248" y="4197096"/>
            <a:ext cx="525780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>
                <a:alpha val="9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87552" y="4325112"/>
            <a:ext cx="310896" cy="310896"/>
          </a:xfrm>
          <a:prstGeom prst="ellipse">
            <a:avLst/>
          </a:prstGeom>
          <a:solidFill>
            <a:srgbClr val="7E9B78"/>
          </a:solidFill>
          <a:ln w="12700">
            <a:solidFill>
              <a:srgbClr val="7E9B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9848" y="4384548"/>
            <a:ext cx="146304" cy="914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417320" y="4315968"/>
            <a:ext cx="438912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作成可能または作成不可の判断に必要な情報を確認します。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41248" y="5084064"/>
            <a:ext cx="5257800" cy="713232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F1C8C8">
                <a:alpha val="9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5230368"/>
            <a:ext cx="50292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注意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481328" y="5193792"/>
            <a:ext cx="4251960" cy="32918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7C6A5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QR依頼は購入ではなく作成依頼です。原料確認後に連絡する流れです。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99632" y="3063240"/>
            <a:ext cx="402336" cy="310896"/>
          </a:xfrm>
          <a:prstGeom prst="rightArrow">
            <a:avLst/>
          </a:prstGeom>
          <a:solidFill>
            <a:srgbClr val="7E9B78">
              <a:alpha val="92000"/>
            </a:srgbClr>
          </a:solidFill>
          <a:ln w="12700">
            <a:solidFill>
              <a:srgbClr val="7E9B7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48272" y="1051560"/>
            <a:ext cx="4498848" cy="2761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8BE"/>
            </a:solidFill>
            <a:prstDash val="solid"/>
          </a:ln>
        </p:spPr>
      </p:sp>
      <p:pic>
        <p:nvPicPr>
          <p:cNvPr id="28" name="Image 0" descr="C:\Users\hiita\src\fragrance_questionnaire\manual\assets\generated-images\staff-ui-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76" y="1197864"/>
            <a:ext cx="4206240" cy="2368296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6967728" y="3922776"/>
            <a:ext cx="10972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748272" y="4315968"/>
            <a:ext cx="4498848" cy="105156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EBD8BE">
                <a:alpha val="8800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059168" y="4553712"/>
            <a:ext cx="10972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7E9B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完了の目安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59168" y="4828032"/>
            <a:ext cx="365760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A302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対応方針を決められれば完了です。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Fragrance Workshop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スタッフ操作マニュアル</dc:title>
  <dc:subject>スタッフ操作マニュアル</dc:subject>
  <dc:creator>Fragrance Workshop</dc:creator>
  <cp:lastModifiedBy>Fragrance Workshop</cp:lastModifiedBy>
  <cp:revision>1</cp:revision>
  <dcterms:created xsi:type="dcterms:W3CDTF">2026-05-07T11:17:12Z</dcterms:created>
  <dcterms:modified xsi:type="dcterms:W3CDTF">2026-05-07T11:17:12Z</dcterms:modified>
</cp:coreProperties>
</file>