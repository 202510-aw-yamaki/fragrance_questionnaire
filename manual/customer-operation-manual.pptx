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1"/>
          </a:solidFill>
          <a:ln w="12700">
            <a:solidFill>
              <a:srgbClr val="FFF9F1"/>
            </a:solidFill>
            <a:prstDash val="solid"/>
          </a:ln>
        </p:spPr>
      </p:sp>
      <p:pic>
        <p:nvPicPr>
          <p:cNvPr id="3" name="Image 0" descr="C:\Users\hiita\src\fragrance_questionnaire\manual\assets\generated-images\customer-ui-illust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658368"/>
            <a:ext cx="6583680" cy="37033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4498848"/>
            <a:ext cx="12191695" cy="2359152"/>
          </a:xfrm>
          <a:prstGeom prst="rect">
            <a:avLst/>
          </a:prstGeom>
          <a:solidFill>
            <a:srgbClr val="FFFFFF"/>
          </a:solidFill>
          <a:ln w="12700">
            <a:solidFill>
              <a:srgbClr val="EBD8BE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21792" y="566928"/>
            <a:ext cx="338328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Fragrance Workshop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58368" y="1078992"/>
            <a:ext cx="1444752" cy="347472"/>
          </a:xfrm>
          <a:prstGeom prst="roundRect">
            <a:avLst/>
          </a:prstGeom>
          <a:solidFill>
            <a:srgbClr val="E66F7B">
              <a:alpha val="88000"/>
            </a:srgbClr>
          </a:solidFill>
          <a:ln w="12700">
            <a:solidFill>
              <a:srgbClr val="E66F7B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6384" y="1152144"/>
            <a:ext cx="11887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お客様向け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58368" y="1664208"/>
            <a:ext cx="416052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顧客操作マニュアル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685800" y="2788920"/>
            <a:ext cx="4389120" cy="6766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1スライド1操作で、どこを押す・何を入力する・完了後に何が見えるかを確認できます。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49808" y="4956048"/>
            <a:ext cx="77724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E66F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確認順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49808" y="5321808"/>
            <a:ext cx="3364992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トップページを開く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アンケートに回答する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5軸結果を確認する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 来店予約を入れる</a:t>
            </a:r>
            <a:endParaRPr lang="en-US" sz="1020" dirty="0"/>
          </a:p>
        </p:txBody>
      </p:sp>
      <p:sp>
        <p:nvSpPr>
          <p:cNvPr id="12" name="Text 9"/>
          <p:cNvSpPr/>
          <p:nvPr/>
        </p:nvSpPr>
        <p:spPr>
          <a:xfrm>
            <a:off x="4498848" y="5321808"/>
            <a:ext cx="3364992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5. 会員ログインする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6. マイページを見る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7. 制作履歴を検索する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8. 作成依頼をする</a:t>
            </a:r>
            <a:endParaRPr lang="en-US" sz="1020" dirty="0"/>
          </a:p>
        </p:txBody>
      </p:sp>
      <p:sp>
        <p:nvSpPr>
          <p:cNvPr id="13" name="Text 10"/>
          <p:cNvSpPr/>
          <p:nvPr/>
        </p:nvSpPr>
        <p:spPr>
          <a:xfrm>
            <a:off x="8247888" y="5321808"/>
            <a:ext cx="3364992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endParaRPr lang="en-US" sz="10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BD8BE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64592"/>
            <a:ext cx="292608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Fragrance Workshop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46920" y="155448"/>
            <a:ext cx="128016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E66F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お客様向け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1201400" y="155448"/>
            <a:ext cx="438912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2/9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502920" y="786384"/>
            <a:ext cx="11201400" cy="5532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078992"/>
            <a:ext cx="914400" cy="347472"/>
          </a:xfrm>
          <a:prstGeom prst="roundRect">
            <a:avLst/>
          </a:prstGeom>
          <a:solidFill>
            <a:srgbClr val="E66F7B">
              <a:alpha val="88000"/>
            </a:srgbClr>
          </a:solidFill>
          <a:ln w="12700">
            <a:solidFill>
              <a:srgbClr val="E66F7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1152144"/>
            <a:ext cx="658368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操作 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41248" y="1536192"/>
            <a:ext cx="516636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トップページを開く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59536" y="2057400"/>
            <a:ext cx="5029200" cy="3931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最初の入口を確認し、目的に合うボタンを選びます。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41248" y="2697480"/>
            <a:ext cx="5257800" cy="566928"/>
          </a:xfrm>
          <a:prstGeom prst="roundRect">
            <a:avLst/>
          </a:prstGeom>
          <a:solidFill>
            <a:srgbClr val="FFF2E1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2825496"/>
            <a:ext cx="310896" cy="310896"/>
          </a:xfrm>
          <a:prstGeom prst="ellipse">
            <a:avLst/>
          </a:prstGeom>
          <a:solidFill>
            <a:srgbClr val="E66F7B"/>
          </a:solidFill>
          <a:ln w="12700">
            <a:solidFill>
              <a:srgbClr val="E66F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2884932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417320" y="2816352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トップページを開き、画面上部と大きなボタンを確認します。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41248" y="3447288"/>
            <a:ext cx="5257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7552" y="3575304"/>
            <a:ext cx="310896" cy="310896"/>
          </a:xfrm>
          <a:prstGeom prst="ellipse">
            <a:avLst/>
          </a:prstGeom>
          <a:solidFill>
            <a:srgbClr val="E66F7B"/>
          </a:solidFill>
          <a:ln w="12700">
            <a:solidFill>
              <a:srgbClr val="E66F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9848" y="3634740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417320" y="3566160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香りの提案まで進める場合は「アンケート」を選びます。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41248" y="4197096"/>
            <a:ext cx="5257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7552" y="4325112"/>
            <a:ext cx="310896" cy="310896"/>
          </a:xfrm>
          <a:prstGeom prst="ellipse">
            <a:avLst/>
          </a:prstGeom>
          <a:solidFill>
            <a:srgbClr val="E66F7B"/>
          </a:solidFill>
          <a:ln w="12700">
            <a:solidFill>
              <a:srgbClr val="E66F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" y="4384548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417320" y="4315968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日時だけ先に決めたい場合は「日時だけ予約」を選びます。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41248" y="5084064"/>
            <a:ext cx="5257800" cy="713232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F1C8C8">
                <a:alpha val="9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5230368"/>
            <a:ext cx="50292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E66F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481328" y="5193792"/>
            <a:ext cx="42519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迷った場合はアンケートから進めると、5軸結果と予約がつながります。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99632" y="3063240"/>
            <a:ext cx="402336" cy="310896"/>
          </a:xfrm>
          <a:prstGeom prst="rightArrow">
            <a:avLst/>
          </a:prstGeom>
          <a:solidFill>
            <a:srgbClr val="E66F7B">
              <a:alpha val="92000"/>
            </a:srgbClr>
          </a:solidFill>
          <a:ln w="12700">
            <a:solidFill>
              <a:srgbClr val="E66F7B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48272" y="1051560"/>
            <a:ext cx="4498848" cy="2761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/>
            </a:solidFill>
            <a:prstDash val="solid"/>
          </a:ln>
        </p:spPr>
      </p:sp>
      <p:pic>
        <p:nvPicPr>
          <p:cNvPr id="28" name="Image 0" descr="C:\Users\hiita\src\fragrance_questionnaire\manual\assets\generated-images\customer-ui-illust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576" y="1197864"/>
            <a:ext cx="4206240" cy="2368296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6967728" y="3922776"/>
            <a:ext cx="10972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E66F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画面イメージ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6748272" y="4315968"/>
            <a:ext cx="4498848" cy="10515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BD8BE">
                <a:alpha val="88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059168" y="4553712"/>
            <a:ext cx="109728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E66F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完了の目安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059168" y="4828032"/>
            <a:ext cx="365760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次の画面へ進めれば完了です。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BD8BE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64592"/>
            <a:ext cx="292608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Fragrance Workshop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46920" y="155448"/>
            <a:ext cx="128016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E66F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お客様向け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1201400" y="155448"/>
            <a:ext cx="438912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3/9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502920" y="786384"/>
            <a:ext cx="11201400" cy="5532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078992"/>
            <a:ext cx="914400" cy="347472"/>
          </a:xfrm>
          <a:prstGeom prst="roundRect">
            <a:avLst/>
          </a:prstGeom>
          <a:solidFill>
            <a:srgbClr val="E66F7B">
              <a:alpha val="88000"/>
            </a:srgbClr>
          </a:solidFill>
          <a:ln w="12700">
            <a:solidFill>
              <a:srgbClr val="E66F7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1152144"/>
            <a:ext cx="658368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操作 2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41248" y="1536192"/>
            <a:ext cx="516636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アンケートに回答する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59536" y="2057400"/>
            <a:ext cx="5029200" cy="3931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香り・色・気分・使いたい場面を、直感で選びます。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41248" y="2697480"/>
            <a:ext cx="5257800" cy="566928"/>
          </a:xfrm>
          <a:prstGeom prst="roundRect">
            <a:avLst/>
          </a:prstGeom>
          <a:solidFill>
            <a:srgbClr val="FFF2E1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2825496"/>
            <a:ext cx="310896" cy="310896"/>
          </a:xfrm>
          <a:prstGeom prst="ellipse">
            <a:avLst/>
          </a:prstGeom>
          <a:solidFill>
            <a:srgbClr val="E66F7B"/>
          </a:solidFill>
          <a:ln w="12700">
            <a:solidFill>
              <a:srgbClr val="E66F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2884932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417320" y="2816352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質問は順番に表示されます。該当する選択肢を押します。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41248" y="3447288"/>
            <a:ext cx="5257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7552" y="3575304"/>
            <a:ext cx="310896" cy="310896"/>
          </a:xfrm>
          <a:prstGeom prst="ellipse">
            <a:avLst/>
          </a:prstGeom>
          <a:solidFill>
            <a:srgbClr val="E66F7B"/>
          </a:solidFill>
          <a:ln w="12700">
            <a:solidFill>
              <a:srgbClr val="E66F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9848" y="3634740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417320" y="3566160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すべて答えると、香りの傾向が5軸で計算されます。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41248" y="4197096"/>
            <a:ext cx="5257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7552" y="4325112"/>
            <a:ext cx="310896" cy="310896"/>
          </a:xfrm>
          <a:prstGeom prst="ellipse">
            <a:avLst/>
          </a:prstGeom>
          <a:solidFill>
            <a:srgbClr val="E66F7B"/>
          </a:solidFill>
          <a:ln w="12700">
            <a:solidFill>
              <a:srgbClr val="E66F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" y="4384548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417320" y="4315968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途中で迷ったら、今の気分に一番近いものを選びます。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41248" y="5084064"/>
            <a:ext cx="5257800" cy="713232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F1C8C8">
                <a:alpha val="9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5230368"/>
            <a:ext cx="50292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E66F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481328" y="5193792"/>
            <a:ext cx="42519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正解を探す画面ではありません。お客様の好みを知るための入口です。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99632" y="3063240"/>
            <a:ext cx="402336" cy="310896"/>
          </a:xfrm>
          <a:prstGeom prst="rightArrow">
            <a:avLst/>
          </a:prstGeom>
          <a:solidFill>
            <a:srgbClr val="E66F7B">
              <a:alpha val="92000"/>
            </a:srgbClr>
          </a:solidFill>
          <a:ln w="12700">
            <a:solidFill>
              <a:srgbClr val="E66F7B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48272" y="1051560"/>
            <a:ext cx="4498848" cy="2761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/>
            </a:solidFill>
            <a:prstDash val="solid"/>
          </a:ln>
        </p:spPr>
      </p:sp>
      <p:pic>
        <p:nvPicPr>
          <p:cNvPr id="28" name="Image 0" descr="C:\Users\hiita\src\fragrance_questionnaire\manual\assets\generated-images\customer-ui-illust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576" y="1197864"/>
            <a:ext cx="4206240" cy="2368296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6967728" y="3922776"/>
            <a:ext cx="10972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E66F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画面イメージ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6748272" y="4315968"/>
            <a:ext cx="4498848" cy="10515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BD8BE">
                <a:alpha val="88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059168" y="4553712"/>
            <a:ext cx="109728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E66F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完了の目安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059168" y="4828032"/>
            <a:ext cx="365760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結果画面が表示されれば完了です。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BD8BE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64592"/>
            <a:ext cx="292608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Fragrance Workshop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46920" y="155448"/>
            <a:ext cx="128016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E66F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お客様向け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1201400" y="155448"/>
            <a:ext cx="438912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4/9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502920" y="786384"/>
            <a:ext cx="11201400" cy="5532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078992"/>
            <a:ext cx="914400" cy="347472"/>
          </a:xfrm>
          <a:prstGeom prst="roundRect">
            <a:avLst/>
          </a:prstGeom>
          <a:solidFill>
            <a:srgbClr val="E66F7B">
              <a:alpha val="88000"/>
            </a:srgbClr>
          </a:solidFill>
          <a:ln w="12700">
            <a:solidFill>
              <a:srgbClr val="E66F7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1152144"/>
            <a:ext cx="658368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操作 3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41248" y="1536192"/>
            <a:ext cx="516636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5軸結果を確認する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59536" y="2057400"/>
            <a:ext cx="5029200" cy="3931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アンケート結果から、香りの方向性をグラフで見ます。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41248" y="2697480"/>
            <a:ext cx="5257800" cy="566928"/>
          </a:xfrm>
          <a:prstGeom prst="roundRect">
            <a:avLst/>
          </a:prstGeom>
          <a:solidFill>
            <a:srgbClr val="FFF2E1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2825496"/>
            <a:ext cx="310896" cy="310896"/>
          </a:xfrm>
          <a:prstGeom prst="ellipse">
            <a:avLst/>
          </a:prstGeom>
          <a:solidFill>
            <a:srgbClr val="E66F7B"/>
          </a:solidFill>
          <a:ln w="12700">
            <a:solidFill>
              <a:srgbClr val="E66F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2884932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417320" y="2816352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5軸グラフで、自分の香り傾向を確認します。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41248" y="3447288"/>
            <a:ext cx="5257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7552" y="3575304"/>
            <a:ext cx="310896" cy="310896"/>
          </a:xfrm>
          <a:prstGeom prst="ellipse">
            <a:avLst/>
          </a:prstGeom>
          <a:solidFill>
            <a:srgbClr val="E66F7B"/>
          </a:solidFill>
          <a:ln w="12700">
            <a:solidFill>
              <a:srgbClr val="E66F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9848" y="3634740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417320" y="3566160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調整できる画面では、実感に近い形へ微調整します。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41248" y="4197096"/>
            <a:ext cx="5257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7552" y="4325112"/>
            <a:ext cx="310896" cy="310896"/>
          </a:xfrm>
          <a:prstGeom prst="ellipse">
            <a:avLst/>
          </a:prstGeom>
          <a:solidFill>
            <a:srgbClr val="E66F7B"/>
          </a:solidFill>
          <a:ln w="12700">
            <a:solidFill>
              <a:srgbClr val="E66F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" y="4384548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417320" y="4315968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調整後の5軸が、スタッフの原料提案の起点になります。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41248" y="5084064"/>
            <a:ext cx="5257800" cy="713232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F1C8C8">
                <a:alpha val="9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5230368"/>
            <a:ext cx="50292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E66F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481328" y="5193792"/>
            <a:ext cx="42519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アンケート結果5軸と調整後5軸の両方が、当日の会話に使われます。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99632" y="3063240"/>
            <a:ext cx="402336" cy="310896"/>
          </a:xfrm>
          <a:prstGeom prst="rightArrow">
            <a:avLst/>
          </a:prstGeom>
          <a:solidFill>
            <a:srgbClr val="E66F7B">
              <a:alpha val="92000"/>
            </a:srgbClr>
          </a:solidFill>
          <a:ln w="12700">
            <a:solidFill>
              <a:srgbClr val="E66F7B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48272" y="1051560"/>
            <a:ext cx="4498848" cy="2761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/>
            </a:solidFill>
            <a:prstDash val="solid"/>
          </a:ln>
        </p:spPr>
      </p:sp>
      <p:pic>
        <p:nvPicPr>
          <p:cNvPr id="28" name="Image 0" descr="C:\Users\hiita\src\fragrance_questionnaire\manual\assets\generated-images\customer-ui-illust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576" y="1197864"/>
            <a:ext cx="4206240" cy="2368296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6967728" y="3922776"/>
            <a:ext cx="10972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E66F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画面イメージ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6748272" y="4315968"/>
            <a:ext cx="4498848" cy="10515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BD8BE">
                <a:alpha val="88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059168" y="4553712"/>
            <a:ext cx="109728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E66F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完了の目安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059168" y="4828032"/>
            <a:ext cx="365760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調整後のグラフが確認できれば完了です。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BD8BE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64592"/>
            <a:ext cx="292608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Fragrance Workshop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46920" y="155448"/>
            <a:ext cx="128016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E66F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お客様向け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1201400" y="155448"/>
            <a:ext cx="438912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5/9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502920" y="786384"/>
            <a:ext cx="11201400" cy="5532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078992"/>
            <a:ext cx="914400" cy="347472"/>
          </a:xfrm>
          <a:prstGeom prst="roundRect">
            <a:avLst/>
          </a:prstGeom>
          <a:solidFill>
            <a:srgbClr val="E66F7B">
              <a:alpha val="88000"/>
            </a:srgbClr>
          </a:solidFill>
          <a:ln w="12700">
            <a:solidFill>
              <a:srgbClr val="E66F7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1152144"/>
            <a:ext cx="658368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操作 4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41248" y="1536192"/>
            <a:ext cx="516636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来店予約を入れる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59536" y="2057400"/>
            <a:ext cx="5029200" cy="3931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希望日時と必要情報を入力し、ワークショップを予約します。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41248" y="2697480"/>
            <a:ext cx="5257800" cy="566928"/>
          </a:xfrm>
          <a:prstGeom prst="roundRect">
            <a:avLst/>
          </a:prstGeom>
          <a:solidFill>
            <a:srgbClr val="FFF2E1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2825496"/>
            <a:ext cx="310896" cy="310896"/>
          </a:xfrm>
          <a:prstGeom prst="ellipse">
            <a:avLst/>
          </a:prstGeom>
          <a:solidFill>
            <a:srgbClr val="E66F7B"/>
          </a:solidFill>
          <a:ln w="12700">
            <a:solidFill>
              <a:srgbClr val="E66F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2884932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417320" y="2816352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予約ページで空いている日時を選びます。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41248" y="3447288"/>
            <a:ext cx="5257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7552" y="3575304"/>
            <a:ext cx="310896" cy="310896"/>
          </a:xfrm>
          <a:prstGeom prst="ellipse">
            <a:avLst/>
          </a:prstGeom>
          <a:solidFill>
            <a:srgbClr val="E66F7B"/>
          </a:solidFill>
          <a:ln w="12700">
            <a:solidFill>
              <a:srgbClr val="E66F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9848" y="3634740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417320" y="3566160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名前・連絡先など、画面に表示された項目を入力します。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41248" y="4197096"/>
            <a:ext cx="5257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7552" y="4325112"/>
            <a:ext cx="310896" cy="310896"/>
          </a:xfrm>
          <a:prstGeom prst="ellipse">
            <a:avLst/>
          </a:prstGeom>
          <a:solidFill>
            <a:srgbClr val="E66F7B"/>
          </a:solidFill>
          <a:ln w="12700">
            <a:solidFill>
              <a:srgbClr val="E66F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" y="4384548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417320" y="4315968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内容を確認して予約ボタンを押します。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41248" y="5084064"/>
            <a:ext cx="5257800" cy="713232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F1C8C8">
                <a:alpha val="9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5230368"/>
            <a:ext cx="50292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E66F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481328" y="5193792"/>
            <a:ext cx="42519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アンケート経由の場合は、結果と予約がつながる流れを意識してください。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99632" y="3063240"/>
            <a:ext cx="402336" cy="310896"/>
          </a:xfrm>
          <a:prstGeom prst="rightArrow">
            <a:avLst/>
          </a:prstGeom>
          <a:solidFill>
            <a:srgbClr val="E66F7B">
              <a:alpha val="92000"/>
            </a:srgbClr>
          </a:solidFill>
          <a:ln w="12700">
            <a:solidFill>
              <a:srgbClr val="E66F7B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48272" y="1051560"/>
            <a:ext cx="4498848" cy="2761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/>
            </a:solidFill>
            <a:prstDash val="solid"/>
          </a:ln>
        </p:spPr>
      </p:sp>
      <p:pic>
        <p:nvPicPr>
          <p:cNvPr id="28" name="Image 0" descr="C:\Users\hiita\src\fragrance_questionnaire\manual\assets\generated-images\customer-ui-illust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576" y="1197864"/>
            <a:ext cx="4206240" cy="2368296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6967728" y="3922776"/>
            <a:ext cx="10972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E66F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画面イメージ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6748272" y="4315968"/>
            <a:ext cx="4498848" cy="10515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BD8BE">
                <a:alpha val="88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059168" y="4553712"/>
            <a:ext cx="109728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E66F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完了の目安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059168" y="4828032"/>
            <a:ext cx="365760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予約完了画面が出れば完了です。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BD8BE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64592"/>
            <a:ext cx="292608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Fragrance Workshop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46920" y="155448"/>
            <a:ext cx="128016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E66F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お客様向け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1201400" y="155448"/>
            <a:ext cx="438912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6/9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502920" y="786384"/>
            <a:ext cx="11201400" cy="5532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078992"/>
            <a:ext cx="914400" cy="347472"/>
          </a:xfrm>
          <a:prstGeom prst="roundRect">
            <a:avLst/>
          </a:prstGeom>
          <a:solidFill>
            <a:srgbClr val="E66F7B">
              <a:alpha val="88000"/>
            </a:srgbClr>
          </a:solidFill>
          <a:ln w="12700">
            <a:solidFill>
              <a:srgbClr val="E66F7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1152144"/>
            <a:ext cx="658368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操作 5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41248" y="1536192"/>
            <a:ext cx="516636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会員ログインする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59536" y="2057400"/>
            <a:ext cx="5029200" cy="3931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過去の香りや予約を確認するため、会員ページに入ります。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41248" y="2697480"/>
            <a:ext cx="5257800" cy="566928"/>
          </a:xfrm>
          <a:prstGeom prst="roundRect">
            <a:avLst/>
          </a:prstGeom>
          <a:solidFill>
            <a:srgbClr val="FFF2E1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2825496"/>
            <a:ext cx="310896" cy="310896"/>
          </a:xfrm>
          <a:prstGeom prst="ellipse">
            <a:avLst/>
          </a:prstGeom>
          <a:solidFill>
            <a:srgbClr val="E66F7B"/>
          </a:solidFill>
          <a:ln w="12700">
            <a:solidFill>
              <a:srgbClr val="E66F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2884932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417320" y="2816352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会員ログイン画面を開きます。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41248" y="3447288"/>
            <a:ext cx="5257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7552" y="3575304"/>
            <a:ext cx="310896" cy="310896"/>
          </a:xfrm>
          <a:prstGeom prst="ellipse">
            <a:avLst/>
          </a:prstGeom>
          <a:solidFill>
            <a:srgbClr val="E66F7B"/>
          </a:solidFill>
          <a:ln w="12700">
            <a:solidFill>
              <a:srgbClr val="E66F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9848" y="3634740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417320" y="3566160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登録済みのメールアドレスなど、必要な情報を入力します。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41248" y="4197096"/>
            <a:ext cx="5257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7552" y="4325112"/>
            <a:ext cx="310896" cy="310896"/>
          </a:xfrm>
          <a:prstGeom prst="ellipse">
            <a:avLst/>
          </a:prstGeom>
          <a:solidFill>
            <a:srgbClr val="E66F7B"/>
          </a:solidFill>
          <a:ln w="12700">
            <a:solidFill>
              <a:srgbClr val="E66F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" y="4384548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417320" y="4315968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ログイン後、マイページが表示されます。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41248" y="5084064"/>
            <a:ext cx="5257800" cy="713232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F1C8C8">
                <a:alpha val="9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5230368"/>
            <a:ext cx="50292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E66F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481328" y="5193792"/>
            <a:ext cx="42519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共有端末では、確認後にログアウトしてください。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99632" y="3063240"/>
            <a:ext cx="402336" cy="310896"/>
          </a:xfrm>
          <a:prstGeom prst="rightArrow">
            <a:avLst/>
          </a:prstGeom>
          <a:solidFill>
            <a:srgbClr val="E66F7B">
              <a:alpha val="92000"/>
            </a:srgbClr>
          </a:solidFill>
          <a:ln w="12700">
            <a:solidFill>
              <a:srgbClr val="E66F7B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48272" y="1051560"/>
            <a:ext cx="4498848" cy="2761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/>
            </a:solidFill>
            <a:prstDash val="solid"/>
          </a:ln>
        </p:spPr>
      </p:sp>
      <p:pic>
        <p:nvPicPr>
          <p:cNvPr id="28" name="Image 0" descr="C:\Users\hiita\src\fragrance_questionnaire\manual\assets\generated-images\customer-ui-illust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576" y="1197864"/>
            <a:ext cx="4206240" cy="2368296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6967728" y="3922776"/>
            <a:ext cx="10972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E66F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画面イメージ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6748272" y="4315968"/>
            <a:ext cx="4498848" cy="10515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BD8BE">
                <a:alpha val="88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059168" y="4553712"/>
            <a:ext cx="109728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E66F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完了の目安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059168" y="4828032"/>
            <a:ext cx="365760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マイページが表示されれば完了です。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BD8BE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64592"/>
            <a:ext cx="292608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Fragrance Workshop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46920" y="155448"/>
            <a:ext cx="128016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E66F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お客様向け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1201400" y="155448"/>
            <a:ext cx="438912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7/9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502920" y="786384"/>
            <a:ext cx="11201400" cy="5532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078992"/>
            <a:ext cx="914400" cy="347472"/>
          </a:xfrm>
          <a:prstGeom prst="roundRect">
            <a:avLst/>
          </a:prstGeom>
          <a:solidFill>
            <a:srgbClr val="E66F7B">
              <a:alpha val="88000"/>
            </a:srgbClr>
          </a:solidFill>
          <a:ln w="12700">
            <a:solidFill>
              <a:srgbClr val="E66F7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1152144"/>
            <a:ext cx="658368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操作 6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41248" y="1536192"/>
            <a:ext cx="516636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マイページを見る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59536" y="2057400"/>
            <a:ext cx="5029200" cy="3931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前回作成した香水、次回予約、制作履歴を確認します。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41248" y="2697480"/>
            <a:ext cx="5257800" cy="566928"/>
          </a:xfrm>
          <a:prstGeom prst="roundRect">
            <a:avLst/>
          </a:prstGeom>
          <a:solidFill>
            <a:srgbClr val="FFF2E1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2825496"/>
            <a:ext cx="310896" cy="310896"/>
          </a:xfrm>
          <a:prstGeom prst="ellipse">
            <a:avLst/>
          </a:prstGeom>
          <a:solidFill>
            <a:srgbClr val="E66F7B"/>
          </a:solidFill>
          <a:ln w="12700">
            <a:solidFill>
              <a:srgbClr val="E66F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2884932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417320" y="2816352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前回作成した香水カードを確認します。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41248" y="3447288"/>
            <a:ext cx="5257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7552" y="3575304"/>
            <a:ext cx="310896" cy="310896"/>
          </a:xfrm>
          <a:prstGeom prst="ellipse">
            <a:avLst/>
          </a:prstGeom>
          <a:solidFill>
            <a:srgbClr val="E66F7B"/>
          </a:solidFill>
          <a:ln w="12700">
            <a:solidFill>
              <a:srgbClr val="E66F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9848" y="3634740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417320" y="3566160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アンケート比較や作成依頼へ進むボタンを確認します。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41248" y="4197096"/>
            <a:ext cx="5257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7552" y="4325112"/>
            <a:ext cx="310896" cy="310896"/>
          </a:xfrm>
          <a:prstGeom prst="ellipse">
            <a:avLst/>
          </a:prstGeom>
          <a:solidFill>
            <a:srgbClr val="E66F7B"/>
          </a:solidFill>
          <a:ln w="12700">
            <a:solidFill>
              <a:srgbClr val="E66F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" y="4384548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417320" y="4315968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右側の制作履歴から、過去の商品詳細を開けます。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41248" y="5084064"/>
            <a:ext cx="5257800" cy="713232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F1C8C8">
                <a:alpha val="9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5230368"/>
            <a:ext cx="50292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E66F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481328" y="5193792"/>
            <a:ext cx="42519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作成依頼とワークショップ予約は目的が違います。ボタン名を確認して進みます。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99632" y="3063240"/>
            <a:ext cx="402336" cy="310896"/>
          </a:xfrm>
          <a:prstGeom prst="rightArrow">
            <a:avLst/>
          </a:prstGeom>
          <a:solidFill>
            <a:srgbClr val="E66F7B">
              <a:alpha val="92000"/>
            </a:srgbClr>
          </a:solidFill>
          <a:ln w="12700">
            <a:solidFill>
              <a:srgbClr val="E66F7B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48272" y="1051560"/>
            <a:ext cx="4498848" cy="2761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/>
            </a:solidFill>
            <a:prstDash val="solid"/>
          </a:ln>
        </p:spPr>
      </p:sp>
      <p:pic>
        <p:nvPicPr>
          <p:cNvPr id="28" name="Image 0" descr="C:\Users\hiita\src\fragrance_questionnaire\manual\assets\generated-images\customer-ui-illust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576" y="1197864"/>
            <a:ext cx="4206240" cy="2368296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6967728" y="3922776"/>
            <a:ext cx="10972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E66F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画面イメージ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6748272" y="4315968"/>
            <a:ext cx="4498848" cy="10515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BD8BE">
                <a:alpha val="88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059168" y="4553712"/>
            <a:ext cx="109728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E66F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完了の目安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059168" y="4828032"/>
            <a:ext cx="365760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必要なカードが確認できれば完了です。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BD8BE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64592"/>
            <a:ext cx="292608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Fragrance Workshop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46920" y="155448"/>
            <a:ext cx="128016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E66F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お客様向け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1201400" y="155448"/>
            <a:ext cx="438912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8/9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502920" y="786384"/>
            <a:ext cx="11201400" cy="5532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078992"/>
            <a:ext cx="914400" cy="347472"/>
          </a:xfrm>
          <a:prstGeom prst="roundRect">
            <a:avLst/>
          </a:prstGeom>
          <a:solidFill>
            <a:srgbClr val="E66F7B">
              <a:alpha val="88000"/>
            </a:srgbClr>
          </a:solidFill>
          <a:ln w="12700">
            <a:solidFill>
              <a:srgbClr val="E66F7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1152144"/>
            <a:ext cx="658368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操作 7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41248" y="1536192"/>
            <a:ext cx="516636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制作履歴を検索する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59536" y="2057400"/>
            <a:ext cx="5029200" cy="3931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過去に作った香水を一覧で探します。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41248" y="2697480"/>
            <a:ext cx="5257800" cy="566928"/>
          </a:xfrm>
          <a:prstGeom prst="roundRect">
            <a:avLst/>
          </a:prstGeom>
          <a:solidFill>
            <a:srgbClr val="FFF2E1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2825496"/>
            <a:ext cx="310896" cy="310896"/>
          </a:xfrm>
          <a:prstGeom prst="ellipse">
            <a:avLst/>
          </a:prstGeom>
          <a:solidFill>
            <a:srgbClr val="E66F7B"/>
          </a:solidFill>
          <a:ln w="12700">
            <a:solidFill>
              <a:srgbClr val="E66F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2884932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417320" y="2816352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制作履歴の「すべて見る」を押します。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41248" y="3447288"/>
            <a:ext cx="5257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7552" y="3575304"/>
            <a:ext cx="310896" cy="310896"/>
          </a:xfrm>
          <a:prstGeom prst="ellipse">
            <a:avLst/>
          </a:prstGeom>
          <a:solidFill>
            <a:srgbClr val="E66F7B"/>
          </a:solidFill>
          <a:ln w="12700">
            <a:solidFill>
              <a:srgbClr val="E66F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9848" y="3634740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417320" y="3566160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商品名・スタッフ名・タグなどで検索します。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41248" y="4197096"/>
            <a:ext cx="5257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7552" y="4325112"/>
            <a:ext cx="310896" cy="310896"/>
          </a:xfrm>
          <a:prstGeom prst="ellipse">
            <a:avLst/>
          </a:prstGeom>
          <a:solidFill>
            <a:srgbClr val="E66F7B"/>
          </a:solidFill>
          <a:ln w="12700">
            <a:solidFill>
              <a:srgbClr val="E66F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" y="4384548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417320" y="4315968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新しい順、古い順、名前順で並び替えます。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41248" y="5084064"/>
            <a:ext cx="5257800" cy="713232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F1C8C8">
                <a:alpha val="9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5230368"/>
            <a:ext cx="50292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E66F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481328" y="5193792"/>
            <a:ext cx="42519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一覧ページはマイページから続く確認用ページです。迷ったら「マイページへ戻る」を押します。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99632" y="3063240"/>
            <a:ext cx="402336" cy="310896"/>
          </a:xfrm>
          <a:prstGeom prst="rightArrow">
            <a:avLst/>
          </a:prstGeom>
          <a:solidFill>
            <a:srgbClr val="E66F7B">
              <a:alpha val="92000"/>
            </a:srgbClr>
          </a:solidFill>
          <a:ln w="12700">
            <a:solidFill>
              <a:srgbClr val="E66F7B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48272" y="1051560"/>
            <a:ext cx="4498848" cy="2761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/>
            </a:solidFill>
            <a:prstDash val="solid"/>
          </a:ln>
        </p:spPr>
      </p:sp>
      <p:pic>
        <p:nvPicPr>
          <p:cNvPr id="28" name="Image 0" descr="C:\Users\hiita\src\fragrance_questionnaire\manual\assets\generated-images\customer-ui-illust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576" y="1197864"/>
            <a:ext cx="4206240" cy="2368296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6967728" y="3922776"/>
            <a:ext cx="10972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E66F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画面イメージ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6748272" y="4315968"/>
            <a:ext cx="4498848" cy="10515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BD8BE">
                <a:alpha val="88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059168" y="4553712"/>
            <a:ext cx="109728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E66F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完了の目安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059168" y="4828032"/>
            <a:ext cx="365760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目的の商品カードが見つかれば完了です。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BD8BE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64592"/>
            <a:ext cx="292608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Fragrance Workshop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46920" y="155448"/>
            <a:ext cx="128016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E66F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お客様向け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1201400" y="155448"/>
            <a:ext cx="438912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9/9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502920" y="786384"/>
            <a:ext cx="11201400" cy="5532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078992"/>
            <a:ext cx="914400" cy="347472"/>
          </a:xfrm>
          <a:prstGeom prst="roundRect">
            <a:avLst/>
          </a:prstGeom>
          <a:solidFill>
            <a:srgbClr val="E66F7B">
              <a:alpha val="88000"/>
            </a:srgbClr>
          </a:solidFill>
          <a:ln w="12700">
            <a:solidFill>
              <a:srgbClr val="E66F7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1152144"/>
            <a:ext cx="658368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操作 8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41248" y="1536192"/>
            <a:ext cx="516636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作成依頼をする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59536" y="2057400"/>
            <a:ext cx="5029200" cy="3931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完成済みの香りを、商品として作成依頼します。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41248" y="2697480"/>
            <a:ext cx="5257800" cy="566928"/>
          </a:xfrm>
          <a:prstGeom prst="roundRect">
            <a:avLst/>
          </a:prstGeom>
          <a:solidFill>
            <a:srgbClr val="FFF2E1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2825496"/>
            <a:ext cx="310896" cy="310896"/>
          </a:xfrm>
          <a:prstGeom prst="ellipse">
            <a:avLst/>
          </a:prstGeom>
          <a:solidFill>
            <a:srgbClr val="E66F7B"/>
          </a:solidFill>
          <a:ln w="12700">
            <a:solidFill>
              <a:srgbClr val="E66F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2884932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417320" y="2816352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対象の香水カードで「作成依頼」を押します。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41248" y="3447288"/>
            <a:ext cx="5257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7552" y="3575304"/>
            <a:ext cx="310896" cy="310896"/>
          </a:xfrm>
          <a:prstGeom prst="ellipse">
            <a:avLst/>
          </a:prstGeom>
          <a:solidFill>
            <a:srgbClr val="E66F7B"/>
          </a:solidFill>
          <a:ln w="12700">
            <a:solidFill>
              <a:srgbClr val="E66F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9848" y="3634740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417320" y="3566160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10mlまたは30mlの本数とメールアドレスを入力します。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41248" y="4197096"/>
            <a:ext cx="5257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7552" y="4325112"/>
            <a:ext cx="310896" cy="310896"/>
          </a:xfrm>
          <a:prstGeom prst="ellipse">
            <a:avLst/>
          </a:prstGeom>
          <a:solidFill>
            <a:srgbClr val="E66F7B"/>
          </a:solidFill>
          <a:ln w="12700">
            <a:solidFill>
              <a:srgbClr val="E66F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" y="4384548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417320" y="4315968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内容を確認し「作成依頼をする」を押します。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41248" y="5084064"/>
            <a:ext cx="5257800" cy="713232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F1C8C8">
                <a:alpha val="9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5230368"/>
            <a:ext cx="50292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E66F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481328" y="5193792"/>
            <a:ext cx="42519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作成依頼は購入確定ではありません。スタッフが原料確認後に連絡します。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99632" y="3063240"/>
            <a:ext cx="402336" cy="310896"/>
          </a:xfrm>
          <a:prstGeom prst="rightArrow">
            <a:avLst/>
          </a:prstGeom>
          <a:solidFill>
            <a:srgbClr val="E66F7B">
              <a:alpha val="92000"/>
            </a:srgbClr>
          </a:solidFill>
          <a:ln w="12700">
            <a:solidFill>
              <a:srgbClr val="E66F7B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48272" y="1051560"/>
            <a:ext cx="4498848" cy="2761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/>
            </a:solidFill>
            <a:prstDash val="solid"/>
          </a:ln>
        </p:spPr>
      </p:sp>
      <p:pic>
        <p:nvPicPr>
          <p:cNvPr id="28" name="Image 0" descr="C:\Users\hiita\src\fragrance_questionnaire\manual\assets\generated-images\customer-ui-illust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576" y="1197864"/>
            <a:ext cx="4206240" cy="2368296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6967728" y="3922776"/>
            <a:ext cx="10972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E66F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画面イメージ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6748272" y="4315968"/>
            <a:ext cx="4498848" cy="10515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BD8BE">
                <a:alpha val="88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059168" y="4553712"/>
            <a:ext cx="109728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E66F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完了の目安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059168" y="4828032"/>
            <a:ext cx="365760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受付メッセージが出れば完了です。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Fragrance Workshop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顧客操作マニュアル</dc:title>
  <dc:subject>顧客操作マニュアル</dc:subject>
  <dc:creator>Fragrance Workshop</dc:creator>
  <cp:lastModifiedBy>Fragrance Workshop</cp:lastModifiedBy>
  <cp:revision>1</cp:revision>
  <dcterms:created xsi:type="dcterms:W3CDTF">2026-05-07T11:17:09Z</dcterms:created>
  <dcterms:modified xsi:type="dcterms:W3CDTF">2026-05-07T11:17:09Z</dcterms:modified>
</cp:coreProperties>
</file>